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8" roundtripDataSignature="AMtx7minD6TBzT4UFReM8pEBBvFQFkdT8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DC5FD3-50C2-41E2-853D-93FF70EAA191}">
  <a:tblStyle styleId="{39DC5FD3-50C2-41E2-853D-93FF70EAA19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55F842E-096B-4A1F-9849-846BB7E25257}"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44ad2df4b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44ad2df4b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Generally recognized as safe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sz="1800">
              <a:solidFill>
                <a:srgbClr val="595959"/>
              </a:solidFill>
            </a:endParaRPr>
          </a:p>
          <a:p>
            <a:pPr indent="0" lvl="0" marL="0" rtl="0" algn="l">
              <a:lnSpc>
                <a:spcPct val="100000"/>
              </a:lnSpc>
              <a:spcBef>
                <a:spcPts val="0"/>
              </a:spcBef>
              <a:spcAft>
                <a:spcPts val="0"/>
              </a:spcAft>
              <a:buClr>
                <a:schemeClr val="dk1"/>
              </a:buClr>
              <a:buSzPts val="1100"/>
              <a:buFont typeface="Arial"/>
              <a:buNone/>
            </a:pPr>
            <a:r>
              <a:rPr lang="en-GB" sz="1800">
                <a:solidFill>
                  <a:srgbClr val="595959"/>
                </a:solidFill>
              </a:rPr>
              <a:t>100 years  to understand the cell bio</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44ad2df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3f44ad2df4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Generally recognized as safe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sz="1800">
              <a:solidFill>
                <a:srgbClr val="595959"/>
              </a:solidFill>
            </a:endParaRPr>
          </a:p>
          <a:p>
            <a:pPr indent="0" lvl="0" marL="0" rtl="0" algn="l">
              <a:lnSpc>
                <a:spcPct val="100000"/>
              </a:lnSpc>
              <a:spcBef>
                <a:spcPts val="0"/>
              </a:spcBef>
              <a:spcAft>
                <a:spcPts val="0"/>
              </a:spcAft>
              <a:buClr>
                <a:schemeClr val="dk1"/>
              </a:buClr>
              <a:buSzPts val="1100"/>
              <a:buFont typeface="Arial"/>
              <a:buNone/>
            </a:pPr>
            <a:r>
              <a:rPr lang="en-GB" sz="1800">
                <a:solidFill>
                  <a:srgbClr val="595959"/>
                </a:solidFill>
              </a:rPr>
              <a:t>100 years  to understand the cell bio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44ad2df4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f44ad2df4b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Generally recognized as safe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sz="1800">
              <a:solidFill>
                <a:srgbClr val="595959"/>
              </a:solidFill>
            </a:endParaRPr>
          </a:p>
          <a:p>
            <a:pPr indent="0" lvl="0" marL="0" rtl="0" algn="l">
              <a:lnSpc>
                <a:spcPct val="100000"/>
              </a:lnSpc>
              <a:spcBef>
                <a:spcPts val="0"/>
              </a:spcBef>
              <a:spcAft>
                <a:spcPts val="0"/>
              </a:spcAft>
              <a:buClr>
                <a:schemeClr val="dk1"/>
              </a:buClr>
              <a:buSzPts val="1100"/>
              <a:buFont typeface="Arial"/>
              <a:buNone/>
            </a:pPr>
            <a:r>
              <a:rPr lang="en-GB" sz="1800">
                <a:solidFill>
                  <a:srgbClr val="595959"/>
                </a:solidFill>
              </a:rPr>
              <a:t>100 years  to understand the cell bio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Next we move on to what we have found this past several hundred years with a particular focus on the past 20 years</a:t>
            </a:r>
            <a:br>
              <a:rPr lang="en-GB"/>
            </a:br>
            <a:r>
              <a:rPr lang="en-GB" sz="1000">
                <a:solidFill>
                  <a:srgbClr val="222222"/>
                </a:solidFill>
                <a:highlight>
                  <a:srgbClr val="FFFFFF"/>
                </a:highlight>
              </a:rPr>
              <a:t>Zajac, Ian T., et al. "The effect of ergothioneine supplementation on cognitive function, memory, and sleep in older adults with subjective memory complaints: a randomized placebo-controlled trial." </a:t>
            </a:r>
            <a:r>
              <a:rPr i="1" lang="en-GB" sz="1000">
                <a:solidFill>
                  <a:srgbClr val="222222"/>
                </a:solidFill>
                <a:highlight>
                  <a:srgbClr val="FFFFFF"/>
                </a:highlight>
              </a:rPr>
              <a:t>Nutraceuticals</a:t>
            </a:r>
            <a:r>
              <a:rPr lang="en-GB" sz="1000">
                <a:solidFill>
                  <a:srgbClr val="222222"/>
                </a:solidFill>
                <a:highlight>
                  <a:srgbClr val="FFFFFF"/>
                </a:highlight>
              </a:rPr>
              <a:t> 5.3 (2025): 15.</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Next we look at some mechanistic studies, can we explain each of the observations?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First we look at observational studies, these are some RCTs on supplementation</a:t>
            </a:r>
            <a:endParaRPr/>
          </a:p>
          <a:p>
            <a:pPr indent="0" lvl="0" marL="0" rtl="0" algn="l">
              <a:lnSpc>
                <a:spcPct val="100000"/>
              </a:lnSpc>
              <a:spcBef>
                <a:spcPts val="0"/>
              </a:spcBef>
              <a:spcAft>
                <a:spcPts val="0"/>
              </a:spcAft>
              <a:buSzPts val="1100"/>
              <a:buNone/>
            </a:pPr>
            <a:r>
              <a:rPr lang="en-GB"/>
              <a:t>Note, RCTs tend to be small and short</a:t>
            </a:r>
            <a:endParaRPr/>
          </a:p>
          <a:p>
            <a:pPr indent="0" lvl="0" marL="0" rtl="0" algn="l">
              <a:lnSpc>
                <a:spcPct val="100000"/>
              </a:lnSpc>
              <a:spcBef>
                <a:spcPts val="0"/>
              </a:spcBef>
              <a:spcAft>
                <a:spcPts val="0"/>
              </a:spcAft>
              <a:buSzPts val="1100"/>
              <a:buNone/>
            </a:pPr>
            <a:r>
              <a:rPr lang="en-GB"/>
              <a:t>Epidemiological tend to be larger and longer</a:t>
            </a:r>
            <a:endParaRPr/>
          </a:p>
          <a:p>
            <a:pPr indent="0" lvl="0" marL="0" rtl="0" algn="l">
              <a:lnSpc>
                <a:spcPct val="100000"/>
              </a:lnSpc>
              <a:spcBef>
                <a:spcPts val="0"/>
              </a:spcBef>
              <a:spcAft>
                <a:spcPts val="0"/>
              </a:spcAft>
              <a:buSzPts val="1100"/>
              <a:buNone/>
            </a:pPr>
            <a:r>
              <a:rPr lang="en-GB"/>
              <a:t>Nothing Epidemiological prior to 2020, RCT earliest is 2022</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44ad2df4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f44ad2df4b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Next we look at some mechanistic studies, can we explain each of the observations?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44ad2df4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f44ad2df4b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First we look at observational studies, these are some RCTs on supplementation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a:t>Now a gap, can we demonstrate geroprotection more broadly?</a:t>
            </a:r>
            <a:endParaRPr/>
          </a:p>
          <a:p>
            <a:pPr indent="0" lvl="0" marL="0" rtl="0" algn="l">
              <a:lnSpc>
                <a:spcPct val="100000"/>
              </a:lnSpc>
              <a:spcBef>
                <a:spcPts val="0"/>
              </a:spcBef>
              <a:spcAft>
                <a:spcPts val="0"/>
              </a:spcAft>
              <a:buClr>
                <a:schemeClr val="dk1"/>
              </a:buClr>
              <a:buSzPts val="1100"/>
              <a:buFont typeface="Arial"/>
              <a:buNone/>
            </a:pPr>
            <a:r>
              <a:rPr lang="en-GB"/>
              <a:t>[1] </a:t>
            </a:r>
            <a:r>
              <a:rPr lang="en-GB" sz="1000">
                <a:solidFill>
                  <a:srgbClr val="222222"/>
                </a:solidFill>
                <a:highlight>
                  <a:srgbClr val="FFFFFF"/>
                </a:highlight>
              </a:rPr>
              <a:t>Samuel P, Tsapekos M, de Pedro N, Liu AG, Casey Lippmeier J, Chen S. Ergothioneine mitigates telomere shortening under oxidative stress conditions. Journal of Dietary Supplements. 2022 Mar 4;19(2):212-25</a:t>
            </a:r>
            <a:endParaRPr sz="1000">
              <a:solidFill>
                <a:srgbClr val="222222"/>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GB" sz="1000">
                <a:solidFill>
                  <a:srgbClr val="222222"/>
                </a:solidFill>
                <a:highlight>
                  <a:srgbClr val="FFFFFF"/>
                </a:highlight>
              </a:rPr>
              <a:t>[2] Apparoo Y, Phan CW, Kuppusamy UR, Chan EW. Potential role of ergothioneine rich mushroom as anti-aging candidate through elimination of neuronal senescent cells. Brain research. 2024 Feb 1;1824:148693.</a:t>
            </a:r>
            <a:endParaRPr sz="1000">
              <a:solidFill>
                <a:srgbClr val="222222"/>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GB" sz="1000">
                <a:solidFill>
                  <a:srgbClr val="222222"/>
                </a:solidFill>
                <a:highlight>
                  <a:srgbClr val="FFFFFF"/>
                </a:highlight>
              </a:rPr>
              <a:t>[3] Ko HJ, Kim J, Ahn M, Kim JH, Lee GS, Shin T. Ergothioneine alleviates senescence of fibroblasts induced by UVB damage of keratinocytes via activation of the Nrf2/HO-1 pathway and HSP70 in keratinocytes. Experimental Cell Research. 2021 Mar 1;400(1):112516.</a:t>
            </a:r>
            <a:endParaRPr sz="1000">
              <a:solidFill>
                <a:srgbClr val="222222"/>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GB" sz="1000">
                <a:solidFill>
                  <a:srgbClr val="222222"/>
                </a:solidFill>
                <a:highlight>
                  <a:srgbClr val="FFFFFF"/>
                </a:highlight>
              </a:rPr>
              <a:t>[4] D’Onofrio N, Servillo L, Giovane A, Casale R, Vitiello M, Marfella R, Paolisso G, Balestrieri ML. Ergothioneine oxidation in the protection against high-glucose induced endothelial senescence: involvement of SIRT1 and SIRT6. Free Radical Biology and Medicine. 2016 Jul 1;96:211-22.</a:t>
            </a:r>
            <a:endParaRPr sz="1000">
              <a:solidFill>
                <a:srgbClr val="222222"/>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GB" sz="1000">
                <a:solidFill>
                  <a:srgbClr val="222222"/>
                </a:solidFill>
                <a:highlight>
                  <a:srgbClr val="FFFFFF"/>
                </a:highlight>
              </a:rPr>
              <a:t>[5]Li Y, Gao J, Liu S, Chen S, Wei X, Guan Y, Li X, Li Y, Huang Z, Li G, Zhao Y. Ergothioneine protects against UV-induced oxidative stress through the PI3K/AKT/Nrf2 signaling pathway. Clinical, Cosmetic and Investigational Dermatology. 2024 Dec 31:1309-19.</a:t>
            </a:r>
            <a:endParaRPr sz="1000">
              <a:solidFill>
                <a:srgbClr val="222222"/>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GB" sz="1000">
                <a:solidFill>
                  <a:srgbClr val="222222"/>
                </a:solidFill>
                <a:highlight>
                  <a:srgbClr val="FFFFFF"/>
                </a:highlight>
              </a:rPr>
              <a:t>[6] Yasaaswini A. </a:t>
            </a:r>
            <a:r>
              <a:rPr i="1" lang="en-GB" sz="1000">
                <a:solidFill>
                  <a:srgbClr val="222222"/>
                </a:solidFill>
                <a:highlight>
                  <a:srgbClr val="FFFFFF"/>
                </a:highlight>
              </a:rPr>
              <a:t>Studies on the protective effects of ergothioneine-rich mushroom extract against stress-induced premature senescence (SIPS) in neuronal cells/Yasaaswini Apparoo</a:t>
            </a:r>
            <a:r>
              <a:rPr lang="en-GB" sz="1000">
                <a:solidFill>
                  <a:srgbClr val="222222"/>
                </a:solidFill>
                <a:highlight>
                  <a:srgbClr val="FFFFFF"/>
                </a:highlight>
              </a:rPr>
              <a:t> (Doctoral dissertation, Universiti Malaya).</a:t>
            </a:r>
            <a:endParaRPr sz="1000">
              <a:solidFill>
                <a:srgbClr val="222222"/>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GB" sz="1000">
                <a:solidFill>
                  <a:srgbClr val="222222"/>
                </a:solidFill>
                <a:highlight>
                  <a:srgbClr val="FFFFFF"/>
                </a:highlight>
              </a:rPr>
              <a:t>[7] Servillo L, Castaldo D, Casale R, D’Onofrio N, Giovane A, Cautela D, Balestrieri ML. An uncommon redox behavior sheds light on the cellular antioxidant properties of ergothioneine. Free Radical Biology and Medicine. 2015 Feb 1;79:228-36.</a:t>
            </a:r>
            <a:endParaRPr sz="1000">
              <a:solidFill>
                <a:srgbClr val="222222"/>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GB" sz="1000">
                <a:solidFill>
                  <a:srgbClr val="222222"/>
                </a:solidFill>
                <a:highlight>
                  <a:srgbClr val="FFFFFF"/>
                </a:highlight>
              </a:rPr>
              <a:t>[8] Gao W, Wang Y, Wang F, Wu X, Lu F, Liu F. Ergothioneine exerts neuroprotective effects in Parkinson’s disease: Targeting α-synuclein aggregation and oxidative stress. Food Research International. 2025 Feb 1;201:115590.</a:t>
            </a:r>
            <a:endParaRPr sz="1000">
              <a:solidFill>
                <a:srgbClr val="222222"/>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GB" sz="1000">
                <a:solidFill>
                  <a:srgbClr val="222222"/>
                </a:solidFill>
                <a:highlight>
                  <a:srgbClr val="FFFFFF"/>
                </a:highlight>
              </a:rPr>
              <a:t>[9] Paul BD, Snyder SH. The unusual amino acid L-ergothioneine is a physiologic cytoprotectant. Cell Death &amp; Differentiation. 2010 Jul;17(7):1134-40.</a:t>
            </a:r>
            <a:endParaRPr sz="1000">
              <a:solidFill>
                <a:srgbClr val="222222"/>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GB" sz="1000">
                <a:solidFill>
                  <a:srgbClr val="222222"/>
                </a:solidFill>
                <a:highlight>
                  <a:srgbClr val="FFFFFF"/>
                </a:highlight>
              </a:rPr>
              <a:t>[10] Fong ZW, Tang RM, Cheah IK, Leow DM, Chen L, Halliwell B. Ergothioneine and mitochondria: An important protective mechanism?. Biochemical and Biophysical Research Communications. 2024 Sep 24;726:150269.</a:t>
            </a:r>
            <a:endParaRPr sz="1000">
              <a:solidFill>
                <a:srgbClr val="222222"/>
              </a:solidFill>
              <a:highlight>
                <a:srgbClr val="FFFFFF"/>
              </a:highlight>
            </a:endParaRPr>
          </a:p>
          <a:p>
            <a:pPr indent="0" lvl="0" marL="0" rtl="0" algn="l">
              <a:lnSpc>
                <a:spcPct val="100000"/>
              </a:lnSpc>
              <a:spcBef>
                <a:spcPts val="0"/>
              </a:spcBef>
              <a:spcAft>
                <a:spcPts val="0"/>
              </a:spcAft>
              <a:buSzPts val="1100"/>
              <a:buNone/>
            </a:pPr>
            <a:r>
              <a:rPr lang="en-GB"/>
              <a:t>[11] </a:t>
            </a:r>
            <a:r>
              <a:rPr lang="en-GB" sz="1000">
                <a:solidFill>
                  <a:srgbClr val="222222"/>
                </a:solidFill>
                <a:highlight>
                  <a:srgbClr val="FFFFFF"/>
                </a:highlight>
              </a:rPr>
              <a:t>Apparoo Y, Phan CW, Kuppusamy UR, Chiang EC. Ergothioneine-rich Lentinula edodes mushroom extract restores mitochondrial functions in senescent HT22 cells. Neuroscience. 2025 Jan 26;565:277-91.</a:t>
            </a:r>
            <a:endParaRPr sz="1000">
              <a:solidFill>
                <a:srgbClr val="222222"/>
              </a:solidFill>
              <a:highlight>
                <a:srgbClr val="FFFFFF"/>
              </a:highlight>
            </a:endParaRPr>
          </a:p>
          <a:p>
            <a:pPr indent="0" lvl="0" marL="0" rtl="0" algn="l">
              <a:lnSpc>
                <a:spcPct val="100000"/>
              </a:lnSpc>
              <a:spcBef>
                <a:spcPts val="0"/>
              </a:spcBef>
              <a:spcAft>
                <a:spcPts val="0"/>
              </a:spcAft>
              <a:buSzPts val="1100"/>
              <a:buNone/>
            </a:pPr>
            <a:r>
              <a:rPr lang="en-GB" sz="1000">
                <a:solidFill>
                  <a:srgbClr val="222222"/>
                </a:solidFill>
                <a:highlight>
                  <a:srgbClr val="FFFFFF"/>
                </a:highlight>
              </a:rPr>
              <a:t>[12] Yau YF, Cheah IK, Mahendran R, Tang RM, Chua RY, Goh RE, Feng L, Li J, Kua EH, Chen C, Halliwell B. Investigating the efficacy of ergothioneine to delay cognitive decline in mild cognitively impaired subjects: A pilot study. Journal of Alzheimer’s Disease. 2024 Dec;102(3):841-54.</a:t>
            </a:r>
            <a:endParaRPr sz="1000">
              <a:solidFill>
                <a:srgbClr val="222222"/>
              </a:solidFill>
              <a:highlight>
                <a:srgbClr val="FFFFFF"/>
              </a:highlight>
            </a:endParaRPr>
          </a:p>
          <a:p>
            <a:pPr indent="0" lvl="0" marL="0" rtl="0" algn="l">
              <a:lnSpc>
                <a:spcPct val="100000"/>
              </a:lnSpc>
              <a:spcBef>
                <a:spcPts val="0"/>
              </a:spcBef>
              <a:spcAft>
                <a:spcPts val="0"/>
              </a:spcAft>
              <a:buSzPts val="1100"/>
              <a:buNone/>
            </a:pPr>
            <a:r>
              <a:rPr lang="en-GB" sz="1000">
                <a:solidFill>
                  <a:srgbClr val="222222"/>
                </a:solidFill>
                <a:highlight>
                  <a:srgbClr val="FFFFFF"/>
                </a:highlight>
              </a:rPr>
              <a:t>[13] Tng TJ, Leow DM, Goh G, Wang Z, Liu Y, Tang RM, Lai KC, Basil AH, Choong HC, Goh WW, Cheah IK. Ergothioneine Treatment Ameliorates the Pathological Phenotypes of Parkinson's Disease Models. Journal of Neurochemistry. 2025 Jul;169(7):e70168.</a:t>
            </a:r>
            <a:endParaRPr sz="1000">
              <a:solidFill>
                <a:srgbClr val="222222"/>
              </a:solidFill>
              <a:highlight>
                <a:srgbClr val="FFFFFF"/>
              </a:highlight>
            </a:endParaRPr>
          </a:p>
          <a:p>
            <a:pPr indent="0" lvl="0" marL="0" rtl="0" algn="l">
              <a:lnSpc>
                <a:spcPct val="100000"/>
              </a:lnSpc>
              <a:spcBef>
                <a:spcPts val="0"/>
              </a:spcBef>
              <a:spcAft>
                <a:spcPts val="0"/>
              </a:spcAft>
              <a:buSzPts val="1100"/>
              <a:buNone/>
            </a:pPr>
            <a:r>
              <a:rPr lang="en-GB" sz="1000">
                <a:solidFill>
                  <a:srgbClr val="222222"/>
                </a:solidFill>
                <a:highlight>
                  <a:srgbClr val="FFFFFF"/>
                </a:highlight>
              </a:rPr>
              <a:t>[14] Kim EC, Toyono T, Berlinicke CA, Zack DJ, Jurkunas U, Usui T, Jun AS. Screening and characterization of drugs that protect corneal endothelial cells against unfolded protein response and oxidative stress. Investigative ophthalmology &amp; visual science. 2017 Feb 1;58(2):892-900.</a:t>
            </a:r>
            <a:endParaRPr sz="1000">
              <a:solidFill>
                <a:srgbClr val="222222"/>
              </a:solidFill>
              <a:highlight>
                <a:srgbClr val="FFFFFF"/>
              </a:highligh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How could we close the gap with a study?</a:t>
            </a:r>
            <a:endParaRPr/>
          </a:p>
          <a:p>
            <a:pPr indent="0" lvl="0" marL="0" rtl="0" algn="l">
              <a:lnSpc>
                <a:spcPct val="100000"/>
              </a:lnSpc>
              <a:spcBef>
                <a:spcPts val="0"/>
              </a:spcBef>
              <a:spcAft>
                <a:spcPts val="0"/>
              </a:spcAft>
              <a:buSzPts val="1100"/>
              <a:buNone/>
            </a:pPr>
            <a:r>
              <a:rPr lang="en-GB"/>
              <a:t>We combine two hypothetically low risk types of end point.</a:t>
            </a:r>
            <a:endParaRPr/>
          </a:p>
          <a:p>
            <a:pPr indent="0" lvl="0" marL="0" rtl="0" algn="l">
              <a:lnSpc>
                <a:spcPct val="100000"/>
              </a:lnSpc>
              <a:spcBef>
                <a:spcPts val="0"/>
              </a:spcBef>
              <a:spcAft>
                <a:spcPts val="0"/>
              </a:spcAft>
              <a:buSzPts val="1100"/>
              <a:buNone/>
            </a:pPr>
            <a:r>
              <a:rPr lang="en-GB"/>
              <a:t>Firstly, Epidemiological cognitive evidence which has been shown in several studies</a:t>
            </a:r>
            <a:endParaRPr/>
          </a:p>
          <a:p>
            <a:pPr indent="0" lvl="0" marL="0" rtl="0" algn="l">
              <a:lnSpc>
                <a:spcPct val="100000"/>
              </a:lnSpc>
              <a:spcBef>
                <a:spcPts val="0"/>
              </a:spcBef>
              <a:spcAft>
                <a:spcPts val="0"/>
              </a:spcAft>
              <a:buSzPts val="1100"/>
              <a:buNone/>
            </a:pPr>
            <a:r>
              <a:rPr lang="en-GB"/>
              <a:t>Secondly, epigenetic drift evidence which has not been explored</a:t>
            </a:r>
            <a:endParaRPr/>
          </a:p>
          <a:p>
            <a:pPr indent="0" lvl="0" marL="0" rtl="0" algn="l">
              <a:lnSpc>
                <a:spcPct val="100000"/>
              </a:lnSpc>
              <a:spcBef>
                <a:spcPts val="0"/>
              </a:spcBef>
              <a:spcAft>
                <a:spcPts val="0"/>
              </a:spcAft>
              <a:buSzPts val="1100"/>
              <a:buNone/>
            </a:pPr>
            <a:r>
              <a:rPr lang="en-GB"/>
              <a:t>In concert these end points provide compelling geroprotective evidence by combining quantitive antiaging measures with empirically observed improvements in age related pathology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g3f44ad2df4b_0_79"/>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a:t>L-Ergothioneine </a:t>
            </a:r>
            <a:endParaRPr/>
          </a:p>
          <a:p>
            <a:pPr indent="0" lvl="0" marL="0" rtl="0" algn="ctr">
              <a:spcBef>
                <a:spcPts val="0"/>
              </a:spcBef>
              <a:spcAft>
                <a:spcPts val="0"/>
              </a:spcAft>
              <a:buNone/>
            </a:pPr>
            <a:r>
              <a:rPr lang="en-GB"/>
              <a:t>&amp; </a:t>
            </a:r>
            <a:endParaRPr/>
          </a:p>
          <a:p>
            <a:pPr indent="0" lvl="0" marL="0" rtl="0" algn="ctr">
              <a:spcBef>
                <a:spcPts val="0"/>
              </a:spcBef>
              <a:spcAft>
                <a:spcPts val="0"/>
              </a:spcAft>
              <a:buNone/>
            </a:pPr>
            <a:r>
              <a:rPr lang="en-GB"/>
              <a:t>Epigenetic Aging</a:t>
            </a:r>
            <a:endParaRPr/>
          </a:p>
        </p:txBody>
      </p:sp>
      <p:sp>
        <p:nvSpPr>
          <p:cNvPr id="55" name="Google Shape;55;g3f44ad2df4b_0_7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A Randomized Trial Proposal</a:t>
            </a:r>
            <a:endParaRPr/>
          </a:p>
        </p:txBody>
      </p:sp>
      <p:sp>
        <p:nvSpPr>
          <p:cNvPr id="56" name="Google Shape;56;g3f44ad2df4b_0_79"/>
          <p:cNvSpPr txBox="1"/>
          <p:nvPr/>
        </p:nvSpPr>
        <p:spPr>
          <a:xfrm>
            <a:off x="5314125" y="4441648"/>
            <a:ext cx="36750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Michael Barrow mjbarrow@stanford.edu</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What Is L-Ergothioneine (EGT)?</a:t>
            </a:r>
            <a:endParaRPr/>
          </a:p>
        </p:txBody>
      </p:sp>
      <p:sp>
        <p:nvSpPr>
          <p:cNvPr id="62" name="Google Shape;62;p1"/>
          <p:cNvSpPr txBox="1"/>
          <p:nvPr>
            <p:ph idx="1" type="body"/>
          </p:nvPr>
        </p:nvSpPr>
        <p:spPr>
          <a:xfrm>
            <a:off x="311700" y="1152475"/>
            <a:ext cx="4260300" cy="34164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GB"/>
              <a:t>A sulfur-containing amino acid you can only get from food</a:t>
            </a:r>
            <a:endParaRPr/>
          </a:p>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GB"/>
              <a:t>Unlike glutathione or vitamin C it resists autoxidation</a:t>
            </a:r>
            <a:endParaRPr/>
          </a:p>
          <a:p>
            <a:pPr indent="0" lvl="0" marL="457200" rtl="0" algn="l">
              <a:lnSpc>
                <a:spcPct val="115000"/>
              </a:lnSpc>
              <a:spcBef>
                <a:spcPts val="0"/>
              </a:spcBef>
              <a:spcAft>
                <a:spcPts val="0"/>
              </a:spcAft>
              <a:buNone/>
            </a:pPr>
            <a:r>
              <a:t/>
            </a:r>
            <a:endParaRPr/>
          </a:p>
        </p:txBody>
      </p:sp>
      <p:pic>
        <p:nvPicPr>
          <p:cNvPr id="63" name="Google Shape;63;p1" title="EGT_molleculebgndBrown.png"/>
          <p:cNvPicPr preferRelativeResize="0"/>
          <p:nvPr/>
        </p:nvPicPr>
        <p:blipFill rotWithShape="1">
          <a:blip r:embed="rId3">
            <a:alphaModFix/>
          </a:blip>
          <a:srcRect b="0" l="0" r="0" t="25788"/>
          <a:stretch/>
        </p:blipFill>
        <p:spPr>
          <a:xfrm>
            <a:off x="5350225" y="1017724"/>
            <a:ext cx="2924500" cy="3860201"/>
          </a:xfrm>
          <a:prstGeom prst="rect">
            <a:avLst/>
          </a:prstGeom>
          <a:noFill/>
          <a:ln>
            <a:noFill/>
          </a:ln>
        </p:spPr>
      </p:pic>
      <p:sp>
        <p:nvSpPr>
          <p:cNvPr id="64" name="Google Shape;64;p1"/>
          <p:cNvSpPr txBox="1"/>
          <p:nvPr/>
        </p:nvSpPr>
        <p:spPr>
          <a:xfrm>
            <a:off x="5532963" y="3910425"/>
            <a:ext cx="2559000" cy="9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GB" sz="1800">
                <a:solidFill>
                  <a:schemeClr val="dk2"/>
                </a:solidFill>
              </a:rPr>
              <a:t>The L-Ergothioneine </a:t>
            </a:r>
            <a:r>
              <a:rPr lang="en-GB" sz="1800">
                <a:solidFill>
                  <a:schemeClr val="dk2"/>
                </a:solidFill>
              </a:rPr>
              <a:t>molecule</a:t>
            </a:r>
            <a:r>
              <a:rPr lang="en-GB" sz="1800">
                <a:solidFill>
                  <a:schemeClr val="dk2"/>
                </a:solidFill>
              </a:rPr>
              <a:t> in its prettiest conformation*</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3f44ad2df4b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How the Body Handles EGT</a:t>
            </a:r>
            <a:endParaRPr/>
          </a:p>
        </p:txBody>
      </p:sp>
      <p:sp>
        <p:nvSpPr>
          <p:cNvPr id="70" name="Google Shape;70;g3f44ad2df4b_0_0"/>
          <p:cNvSpPr txBox="1"/>
          <p:nvPr>
            <p:ph idx="1" type="body"/>
          </p:nvPr>
        </p:nvSpPr>
        <p:spPr>
          <a:xfrm>
            <a:off x="311700" y="1152475"/>
            <a:ext cx="4260300" cy="34164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GB"/>
              <a:t>OCTN1 Dedicated transporter with EGT specific affinity</a:t>
            </a:r>
            <a:endParaRPr/>
          </a:p>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GB"/>
              <a:t>Pumps up to 1000x plasma concentration into cells</a:t>
            </a:r>
            <a:endParaRPr/>
          </a:p>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GB"/>
              <a:t>Conserved </a:t>
            </a:r>
            <a:r>
              <a:rPr lang="en-GB"/>
              <a:t>across</a:t>
            </a:r>
            <a:r>
              <a:rPr lang="en-GB"/>
              <a:t> mammals, birds, and fish</a:t>
            </a:r>
            <a:endParaRPr/>
          </a:p>
        </p:txBody>
      </p:sp>
      <p:pic>
        <p:nvPicPr>
          <p:cNvPr id="71" name="Google Shape;71;g3f44ad2df4b_0_0" title="EGTActiveTransporter.png"/>
          <p:cNvPicPr preferRelativeResize="0"/>
          <p:nvPr/>
        </p:nvPicPr>
        <p:blipFill>
          <a:blip r:embed="rId3">
            <a:alphaModFix/>
          </a:blip>
          <a:stretch>
            <a:fillRect/>
          </a:stretch>
        </p:blipFill>
        <p:spPr>
          <a:xfrm>
            <a:off x="4724400" y="1170125"/>
            <a:ext cx="4267198" cy="32003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f44ad2df4b_0_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Where EGT Goes and Why it Matters</a:t>
            </a:r>
            <a:endParaRPr/>
          </a:p>
        </p:txBody>
      </p:sp>
      <p:sp>
        <p:nvSpPr>
          <p:cNvPr id="77" name="Google Shape;77;g3f44ad2df4b_0_7"/>
          <p:cNvSpPr txBox="1"/>
          <p:nvPr>
            <p:ph idx="1" type="body"/>
          </p:nvPr>
        </p:nvSpPr>
        <p:spPr>
          <a:xfrm>
            <a:off x="311700" y="1152475"/>
            <a:ext cx="4260300" cy="34164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GB"/>
              <a:t>Concentrated in age sensitive cells</a:t>
            </a:r>
            <a:endParaRPr/>
          </a:p>
          <a:p>
            <a:pPr indent="-317500" lvl="1" marL="914400" rtl="0" algn="l">
              <a:lnSpc>
                <a:spcPct val="115000"/>
              </a:lnSpc>
              <a:spcBef>
                <a:spcPts val="0"/>
              </a:spcBef>
              <a:spcAft>
                <a:spcPts val="0"/>
              </a:spcAft>
              <a:buSzPts val="1400"/>
              <a:buChar char="○"/>
            </a:pPr>
            <a:r>
              <a:rPr lang="en-GB"/>
              <a:t>Liver, kidney, skin, brain, </a:t>
            </a:r>
            <a:r>
              <a:rPr lang="en-GB"/>
              <a:t>erythrocytes </a:t>
            </a:r>
            <a:endParaRPr/>
          </a:p>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GB"/>
              <a:t>Crosses the blood-brain barrier</a:t>
            </a:r>
            <a:endParaRPr/>
          </a:p>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GB"/>
              <a:t>Accumulates in mitochondria</a:t>
            </a:r>
            <a:endParaRPr/>
          </a:p>
        </p:txBody>
      </p:sp>
      <p:pic>
        <p:nvPicPr>
          <p:cNvPr id="78" name="Google Shape;78;g3f44ad2df4b_0_7" title="BBBEGT.png"/>
          <p:cNvPicPr preferRelativeResize="0"/>
          <p:nvPr/>
        </p:nvPicPr>
        <p:blipFill>
          <a:blip r:embed="rId3">
            <a:alphaModFix/>
          </a:blip>
          <a:stretch>
            <a:fillRect/>
          </a:stretch>
        </p:blipFill>
        <p:spPr>
          <a:xfrm>
            <a:off x="5289450" y="1048693"/>
            <a:ext cx="3702149" cy="3700341"/>
          </a:xfrm>
          <a:prstGeom prst="rect">
            <a:avLst/>
          </a:prstGeom>
          <a:noFill/>
          <a:ln>
            <a:noFill/>
          </a:ln>
        </p:spPr>
      </p:pic>
      <p:sp>
        <p:nvSpPr>
          <p:cNvPr id="79" name="Google Shape;79;g3f44ad2df4b_0_7"/>
          <p:cNvSpPr txBox="1"/>
          <p:nvPr/>
        </p:nvSpPr>
        <p:spPr>
          <a:xfrm>
            <a:off x="1045175" y="4137867"/>
            <a:ext cx="5800800" cy="6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Dietary amino acid + Dedicated Transporter + GRAS</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rPr lang="en-GB" sz="1800">
                <a:solidFill>
                  <a:schemeClr val="dk2"/>
                </a:solidFill>
              </a:rPr>
              <a:t>A Rare combination for long term trial</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pubmed_histogram.png" id="84" name="Google Shape;84;p2"/>
          <p:cNvPicPr preferRelativeResize="0"/>
          <p:nvPr/>
        </p:nvPicPr>
        <p:blipFill rotWithShape="1">
          <a:blip r:embed="rId3">
            <a:alphaModFix/>
          </a:blip>
          <a:srcRect b="0" l="0" r="0" t="0"/>
          <a:stretch/>
        </p:blipFill>
        <p:spPr>
          <a:xfrm>
            <a:off x="2057075" y="1280225"/>
            <a:ext cx="6826300" cy="2557499"/>
          </a:xfrm>
          <a:prstGeom prst="rect">
            <a:avLst/>
          </a:prstGeom>
          <a:noFill/>
          <a:ln>
            <a:noFill/>
          </a:ln>
        </p:spPr>
      </p:pic>
      <p:sp>
        <p:nvSpPr>
          <p:cNvPr id="85" name="Google Shape;85;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Brief History of EGT Research</a:t>
            </a:r>
            <a:endParaRPr/>
          </a:p>
        </p:txBody>
      </p:sp>
      <p:cxnSp>
        <p:nvCxnSpPr>
          <p:cNvPr id="86" name="Google Shape;86;p2"/>
          <p:cNvCxnSpPr/>
          <p:nvPr/>
        </p:nvCxnSpPr>
        <p:spPr>
          <a:xfrm>
            <a:off x="799925" y="3821916"/>
            <a:ext cx="7458900" cy="0"/>
          </a:xfrm>
          <a:prstGeom prst="straightConnector1">
            <a:avLst/>
          </a:prstGeom>
          <a:noFill/>
          <a:ln cap="flat" cmpd="sng" w="9525">
            <a:solidFill>
              <a:schemeClr val="dk2"/>
            </a:solidFill>
            <a:prstDash val="solid"/>
            <a:round/>
            <a:headEnd len="sm" w="sm" type="none"/>
            <a:tailEnd len="sm" w="sm" type="none"/>
          </a:ln>
        </p:spPr>
      </p:cxnSp>
      <p:cxnSp>
        <p:nvCxnSpPr>
          <p:cNvPr id="87" name="Google Shape;87;p2"/>
          <p:cNvCxnSpPr/>
          <p:nvPr/>
        </p:nvCxnSpPr>
        <p:spPr>
          <a:xfrm flipH="1">
            <a:off x="807650" y="3813645"/>
            <a:ext cx="9000" cy="523200"/>
          </a:xfrm>
          <a:prstGeom prst="straightConnector1">
            <a:avLst/>
          </a:prstGeom>
          <a:noFill/>
          <a:ln cap="flat" cmpd="sng" w="9525">
            <a:solidFill>
              <a:schemeClr val="dk2"/>
            </a:solidFill>
            <a:prstDash val="solid"/>
            <a:round/>
            <a:headEnd len="sm" w="sm" type="none"/>
            <a:tailEnd len="sm" w="sm" type="oval"/>
          </a:ln>
        </p:spPr>
      </p:cxnSp>
      <p:cxnSp>
        <p:nvCxnSpPr>
          <p:cNvPr id="88" name="Google Shape;88;p2"/>
          <p:cNvCxnSpPr/>
          <p:nvPr/>
        </p:nvCxnSpPr>
        <p:spPr>
          <a:xfrm>
            <a:off x="3913000" y="3813643"/>
            <a:ext cx="0" cy="531600"/>
          </a:xfrm>
          <a:prstGeom prst="straightConnector1">
            <a:avLst/>
          </a:prstGeom>
          <a:noFill/>
          <a:ln cap="flat" cmpd="sng" w="9525">
            <a:solidFill>
              <a:schemeClr val="dk2"/>
            </a:solidFill>
            <a:prstDash val="solid"/>
            <a:round/>
            <a:headEnd len="sm" w="sm" type="none"/>
            <a:tailEnd len="sm" w="sm" type="oval"/>
          </a:ln>
        </p:spPr>
      </p:cxnSp>
      <p:cxnSp>
        <p:nvCxnSpPr>
          <p:cNvPr id="89" name="Google Shape;89;p2"/>
          <p:cNvCxnSpPr/>
          <p:nvPr/>
        </p:nvCxnSpPr>
        <p:spPr>
          <a:xfrm>
            <a:off x="2262300" y="2564231"/>
            <a:ext cx="0" cy="1240800"/>
          </a:xfrm>
          <a:prstGeom prst="straightConnector1">
            <a:avLst/>
          </a:prstGeom>
          <a:noFill/>
          <a:ln cap="flat" cmpd="sng" w="9525">
            <a:solidFill>
              <a:schemeClr val="dk2"/>
            </a:solidFill>
            <a:prstDash val="solid"/>
            <a:round/>
            <a:headEnd len="sm" w="sm" type="oval"/>
            <a:tailEnd len="sm" w="sm" type="none"/>
          </a:ln>
        </p:spPr>
      </p:cxnSp>
      <p:cxnSp>
        <p:nvCxnSpPr>
          <p:cNvPr id="90" name="Google Shape;90;p2"/>
          <p:cNvCxnSpPr/>
          <p:nvPr/>
        </p:nvCxnSpPr>
        <p:spPr>
          <a:xfrm>
            <a:off x="6520850" y="2750670"/>
            <a:ext cx="0" cy="1071300"/>
          </a:xfrm>
          <a:prstGeom prst="straightConnector1">
            <a:avLst/>
          </a:prstGeom>
          <a:noFill/>
          <a:ln cap="flat" cmpd="sng" w="9525">
            <a:solidFill>
              <a:schemeClr val="dk2"/>
            </a:solidFill>
            <a:prstDash val="solid"/>
            <a:round/>
            <a:headEnd len="sm" w="sm" type="oval"/>
            <a:tailEnd len="sm" w="sm" type="none"/>
          </a:ln>
        </p:spPr>
      </p:cxnSp>
      <p:sp>
        <p:nvSpPr>
          <p:cNvPr id="91" name="Google Shape;91;p2"/>
          <p:cNvSpPr txBox="1"/>
          <p:nvPr/>
        </p:nvSpPr>
        <p:spPr>
          <a:xfrm>
            <a:off x="1706325" y="1716445"/>
            <a:ext cx="1950600" cy="21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Arial"/>
                <a:ea typeface="Arial"/>
                <a:cs typeface="Arial"/>
                <a:sym typeface="Arial"/>
              </a:rPr>
              <a:t>1909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EGT Isolated by</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Charles Tennent</a:t>
            </a:r>
            <a:endParaRPr b="0" i="0" sz="1200" u="none" cap="none" strike="noStrike">
              <a:solidFill>
                <a:schemeClr val="dk2"/>
              </a:solidFill>
              <a:latin typeface="Arial"/>
              <a:ea typeface="Arial"/>
              <a:cs typeface="Arial"/>
              <a:sym typeface="Arial"/>
            </a:endParaRPr>
          </a:p>
        </p:txBody>
      </p:sp>
      <p:sp>
        <p:nvSpPr>
          <p:cNvPr id="92" name="Google Shape;92;p2"/>
          <p:cNvSpPr txBox="1"/>
          <p:nvPr/>
        </p:nvSpPr>
        <p:spPr>
          <a:xfrm>
            <a:off x="311700" y="4213260"/>
            <a:ext cx="1950600" cy="21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Arial"/>
                <a:ea typeface="Arial"/>
                <a:cs typeface="Arial"/>
                <a:sym typeface="Arial"/>
              </a:rPr>
              <a:t>1596</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EGT rich tonics</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Catalogued in</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Bencao Gangmu</a:t>
            </a:r>
            <a:endParaRPr b="0" i="0" sz="1200" u="none" cap="none" strike="noStrike">
              <a:solidFill>
                <a:schemeClr val="dk2"/>
              </a:solidFill>
              <a:latin typeface="Arial"/>
              <a:ea typeface="Arial"/>
              <a:cs typeface="Arial"/>
              <a:sym typeface="Arial"/>
            </a:endParaRPr>
          </a:p>
        </p:txBody>
      </p:sp>
      <p:sp>
        <p:nvSpPr>
          <p:cNvPr id="93" name="Google Shape;93;p2"/>
          <p:cNvSpPr txBox="1"/>
          <p:nvPr/>
        </p:nvSpPr>
        <p:spPr>
          <a:xfrm>
            <a:off x="3531924" y="4221829"/>
            <a:ext cx="1950600" cy="21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Arial"/>
                <a:ea typeface="Arial"/>
                <a:cs typeface="Arial"/>
                <a:sym typeface="Arial"/>
              </a:rPr>
              <a:t>2005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OCTN1 Active Transporter Identified by Grundemann</a:t>
            </a:r>
            <a:endParaRPr b="0" i="0" sz="1200" u="none" cap="none" strike="noStrike">
              <a:solidFill>
                <a:schemeClr val="dk2"/>
              </a:solidFill>
              <a:latin typeface="Arial"/>
              <a:ea typeface="Arial"/>
              <a:cs typeface="Arial"/>
              <a:sym typeface="Arial"/>
            </a:endParaRPr>
          </a:p>
        </p:txBody>
      </p:sp>
      <p:sp>
        <p:nvSpPr>
          <p:cNvPr id="94" name="Google Shape;94;p2"/>
          <p:cNvSpPr txBox="1"/>
          <p:nvPr/>
        </p:nvSpPr>
        <p:spPr>
          <a:xfrm>
            <a:off x="6539863" y="1196402"/>
            <a:ext cx="1950600" cy="21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Arial"/>
                <a:ea typeface="Arial"/>
                <a:cs typeface="Arial"/>
                <a:sym typeface="Arial"/>
              </a:rPr>
              <a:t>202</a:t>
            </a:r>
            <a:r>
              <a:rPr lang="en-GB" sz="1800">
                <a:solidFill>
                  <a:schemeClr val="dk2"/>
                </a:solidFill>
              </a:rPr>
              <a:t>2</a:t>
            </a:r>
            <a:r>
              <a:rPr b="0" i="0" lang="en-GB" sz="1800" u="none" cap="none" strike="noStrike">
                <a:solidFill>
                  <a:schemeClr val="dk2"/>
                </a:solidFill>
                <a:latin typeface="Arial"/>
                <a:ea typeface="Arial"/>
                <a:cs typeface="Arial"/>
                <a:sym typeface="Arial"/>
              </a:rPr>
              <a:t>*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Commercial culturing</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Developed</a:t>
            </a:r>
            <a:endParaRPr b="0" i="0" sz="1200" u="none" cap="none" strike="noStrike">
              <a:solidFill>
                <a:schemeClr val="dk2"/>
              </a:solidFill>
              <a:latin typeface="Arial"/>
              <a:ea typeface="Arial"/>
              <a:cs typeface="Arial"/>
              <a:sym typeface="Arial"/>
            </a:endParaRPr>
          </a:p>
        </p:txBody>
      </p:sp>
      <p:sp>
        <p:nvSpPr>
          <p:cNvPr id="95" name="Google Shape;95;p2"/>
          <p:cNvSpPr txBox="1"/>
          <p:nvPr/>
        </p:nvSpPr>
        <p:spPr>
          <a:xfrm>
            <a:off x="5587719" y="1716433"/>
            <a:ext cx="1950600" cy="21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Arial"/>
                <a:ea typeface="Arial"/>
                <a:cs typeface="Arial"/>
                <a:sym typeface="Arial"/>
              </a:rPr>
              <a:t>2017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Cheah</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Establishes safety of oral supplementation</a:t>
            </a:r>
            <a:endParaRPr b="0" i="0" sz="1200" u="none" cap="none" strike="noStrike">
              <a:solidFill>
                <a:schemeClr val="dk2"/>
              </a:solidFill>
              <a:latin typeface="Arial"/>
              <a:ea typeface="Arial"/>
              <a:cs typeface="Arial"/>
              <a:sym typeface="Arial"/>
            </a:endParaRPr>
          </a:p>
        </p:txBody>
      </p:sp>
      <p:cxnSp>
        <p:nvCxnSpPr>
          <p:cNvPr id="96" name="Google Shape;96;p2"/>
          <p:cNvCxnSpPr/>
          <p:nvPr/>
        </p:nvCxnSpPr>
        <p:spPr>
          <a:xfrm flipH="1">
            <a:off x="7825316" y="2425093"/>
            <a:ext cx="15600" cy="1388700"/>
          </a:xfrm>
          <a:prstGeom prst="straightConnector1">
            <a:avLst/>
          </a:prstGeom>
          <a:noFill/>
          <a:ln cap="flat" cmpd="sng" w="9525">
            <a:solidFill>
              <a:schemeClr val="dk2"/>
            </a:solidFill>
            <a:prstDash val="solid"/>
            <a:round/>
            <a:headEnd len="sm" w="sm" type="none"/>
            <a:tailEnd len="sm" w="sm" type="none"/>
          </a:ln>
        </p:spPr>
      </p:cxnSp>
      <p:sp>
        <p:nvSpPr>
          <p:cNvPr id="97" name="Google Shape;97;p2"/>
          <p:cNvSpPr txBox="1"/>
          <p:nvPr/>
        </p:nvSpPr>
        <p:spPr>
          <a:xfrm>
            <a:off x="7365720" y="4213255"/>
            <a:ext cx="1950600" cy="109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2"/>
                </a:solidFill>
                <a:latin typeface="Arial"/>
                <a:ea typeface="Arial"/>
                <a:cs typeface="Arial"/>
                <a:sym typeface="Arial"/>
              </a:rPr>
              <a:t>2025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2"/>
                </a:solidFill>
                <a:latin typeface="Arial"/>
                <a:ea typeface="Arial"/>
                <a:cs typeface="Arial"/>
                <a:sym typeface="Arial"/>
              </a:rPr>
              <a:t>Zajac’s 16 week RCT on Cognitive function</a:t>
            </a:r>
            <a:endParaRPr b="0" i="0" sz="1200" u="none" cap="none" strike="noStrike">
              <a:solidFill>
                <a:schemeClr val="dk2"/>
              </a:solidFill>
              <a:latin typeface="Arial"/>
              <a:ea typeface="Arial"/>
              <a:cs typeface="Arial"/>
              <a:sym typeface="Arial"/>
            </a:endParaRPr>
          </a:p>
        </p:txBody>
      </p:sp>
      <p:cxnSp>
        <p:nvCxnSpPr>
          <p:cNvPr id="98" name="Google Shape;98;p2"/>
          <p:cNvCxnSpPr/>
          <p:nvPr/>
        </p:nvCxnSpPr>
        <p:spPr>
          <a:xfrm rot="10800000">
            <a:off x="7354325" y="1913300"/>
            <a:ext cx="483600" cy="510000"/>
          </a:xfrm>
          <a:prstGeom prst="straightConnector1">
            <a:avLst/>
          </a:prstGeom>
          <a:noFill/>
          <a:ln cap="flat" cmpd="sng" w="9525">
            <a:solidFill>
              <a:schemeClr val="dk2"/>
            </a:solidFill>
            <a:prstDash val="solid"/>
            <a:round/>
            <a:headEnd len="sm" w="sm" type="none"/>
            <a:tailEnd len="med" w="med" type="oval"/>
          </a:ln>
        </p:spPr>
      </p:cxnSp>
      <p:cxnSp>
        <p:nvCxnSpPr>
          <p:cNvPr id="99" name="Google Shape;99;p2"/>
          <p:cNvCxnSpPr/>
          <p:nvPr/>
        </p:nvCxnSpPr>
        <p:spPr>
          <a:xfrm>
            <a:off x="8246321" y="3821920"/>
            <a:ext cx="0" cy="480300"/>
          </a:xfrm>
          <a:prstGeom prst="straightConnector1">
            <a:avLst/>
          </a:prstGeom>
          <a:noFill/>
          <a:ln cap="flat" cmpd="sng" w="9525">
            <a:solidFill>
              <a:schemeClr val="dk2"/>
            </a:solidFill>
            <a:prstDash val="solid"/>
            <a:round/>
            <a:headEnd len="sm" w="sm" type="none"/>
            <a:tailEnd len="med" w="med" type="oval"/>
          </a:ln>
        </p:spPr>
      </p:cxnSp>
      <p:sp>
        <p:nvSpPr>
          <p:cNvPr id="100" name="Google Shape;100;p2"/>
          <p:cNvSpPr/>
          <p:nvPr/>
        </p:nvSpPr>
        <p:spPr>
          <a:xfrm>
            <a:off x="1770200" y="3837763"/>
            <a:ext cx="5584200" cy="480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EGT PubMed Articles over time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Mechanisms: Cell Bio Studies</a:t>
            </a:r>
            <a:endParaRPr/>
          </a:p>
        </p:txBody>
      </p:sp>
      <p:sp>
        <p:nvSpPr>
          <p:cNvPr id="106" name="Google Shape;106;p4"/>
          <p:cNvSpPr txBox="1"/>
          <p:nvPr/>
        </p:nvSpPr>
        <p:spPr>
          <a:xfrm>
            <a:off x="3136450" y="4665525"/>
            <a:ext cx="3303000" cy="2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Hundreds of in vitro studies explore EGT mechanisms in cellular biology</a:t>
            </a:r>
            <a:endParaRPr sz="1200">
              <a:solidFill>
                <a:schemeClr val="dk2"/>
              </a:solidFill>
            </a:endParaRPr>
          </a:p>
        </p:txBody>
      </p:sp>
      <p:grpSp>
        <p:nvGrpSpPr>
          <p:cNvPr id="107" name="Google Shape;107;p4"/>
          <p:cNvGrpSpPr/>
          <p:nvPr/>
        </p:nvGrpSpPr>
        <p:grpSpPr>
          <a:xfrm>
            <a:off x="1815200" y="958225"/>
            <a:ext cx="5118275" cy="3820976"/>
            <a:chOff x="3758100" y="940875"/>
            <a:chExt cx="5118275" cy="3820976"/>
          </a:xfrm>
        </p:grpSpPr>
        <p:pic>
          <p:nvPicPr>
            <p:cNvPr id="108" name="Google Shape;108;p4" title="BodySilhouette.png"/>
            <p:cNvPicPr preferRelativeResize="0"/>
            <p:nvPr/>
          </p:nvPicPr>
          <p:blipFill>
            <a:blip r:embed="rId3">
              <a:alphaModFix/>
            </a:blip>
            <a:stretch>
              <a:fillRect/>
            </a:stretch>
          </p:blipFill>
          <p:spPr>
            <a:xfrm>
              <a:off x="5293713" y="940875"/>
              <a:ext cx="2183415" cy="3820976"/>
            </a:xfrm>
            <a:prstGeom prst="rect">
              <a:avLst/>
            </a:prstGeom>
            <a:noFill/>
            <a:ln>
              <a:noFill/>
            </a:ln>
          </p:spPr>
        </p:pic>
        <p:sp>
          <p:nvSpPr>
            <p:cNvPr id="109" name="Google Shape;109;p4"/>
            <p:cNvSpPr txBox="1"/>
            <p:nvPr/>
          </p:nvSpPr>
          <p:spPr>
            <a:xfrm>
              <a:off x="7591775" y="1253150"/>
              <a:ext cx="1284600" cy="2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Brain/CNS: </a:t>
              </a:r>
              <a:r>
                <a:rPr b="1" lang="en-GB" sz="1200">
                  <a:solidFill>
                    <a:schemeClr val="dk2"/>
                  </a:solidFill>
                </a:rPr>
                <a:t>107</a:t>
              </a:r>
              <a:endParaRPr b="1" sz="1200">
                <a:solidFill>
                  <a:schemeClr val="dk2"/>
                </a:solidFill>
              </a:endParaRPr>
            </a:p>
          </p:txBody>
        </p:sp>
        <p:sp>
          <p:nvSpPr>
            <p:cNvPr id="110" name="Google Shape;110;p4"/>
            <p:cNvSpPr txBox="1"/>
            <p:nvPr/>
          </p:nvSpPr>
          <p:spPr>
            <a:xfrm>
              <a:off x="3929700" y="1277300"/>
              <a:ext cx="941400" cy="2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Eye: </a:t>
              </a:r>
              <a:r>
                <a:rPr b="1" lang="en-GB" sz="1200">
                  <a:solidFill>
                    <a:schemeClr val="dk2"/>
                  </a:solidFill>
                </a:rPr>
                <a:t>13</a:t>
              </a:r>
              <a:endParaRPr b="1" sz="1200">
                <a:solidFill>
                  <a:schemeClr val="dk2"/>
                </a:solidFill>
              </a:endParaRPr>
            </a:p>
          </p:txBody>
        </p:sp>
        <p:sp>
          <p:nvSpPr>
            <p:cNvPr id="111" name="Google Shape;111;p4"/>
            <p:cNvSpPr txBox="1"/>
            <p:nvPr/>
          </p:nvSpPr>
          <p:spPr>
            <a:xfrm>
              <a:off x="3758100" y="1942800"/>
              <a:ext cx="1284600" cy="2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Adipose / Metabolic: </a:t>
              </a:r>
              <a:r>
                <a:rPr b="1" lang="en-GB" sz="1200">
                  <a:solidFill>
                    <a:schemeClr val="dk2"/>
                  </a:solidFill>
                </a:rPr>
                <a:t>63</a:t>
              </a:r>
              <a:endParaRPr b="1" sz="1200">
                <a:solidFill>
                  <a:schemeClr val="dk2"/>
                </a:solidFill>
              </a:endParaRPr>
            </a:p>
          </p:txBody>
        </p:sp>
        <p:sp>
          <p:nvSpPr>
            <p:cNvPr id="112" name="Google Shape;112;p4"/>
            <p:cNvSpPr txBox="1"/>
            <p:nvPr/>
          </p:nvSpPr>
          <p:spPr>
            <a:xfrm>
              <a:off x="3929600" y="2608300"/>
              <a:ext cx="941400" cy="2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Liver: </a:t>
              </a:r>
              <a:r>
                <a:rPr b="1" lang="en-GB" sz="1200">
                  <a:solidFill>
                    <a:schemeClr val="dk2"/>
                  </a:solidFill>
                </a:rPr>
                <a:t>25</a:t>
              </a:r>
              <a:endParaRPr b="1" sz="1200">
                <a:solidFill>
                  <a:schemeClr val="dk2"/>
                </a:solidFill>
              </a:endParaRPr>
            </a:p>
          </p:txBody>
        </p:sp>
        <p:sp>
          <p:nvSpPr>
            <p:cNvPr id="113" name="Google Shape;113;p4"/>
            <p:cNvSpPr txBox="1"/>
            <p:nvPr/>
          </p:nvSpPr>
          <p:spPr>
            <a:xfrm>
              <a:off x="3929600" y="3086825"/>
              <a:ext cx="941400" cy="2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Kidney</a:t>
              </a:r>
              <a:r>
                <a:rPr lang="en-GB" sz="1200">
                  <a:solidFill>
                    <a:schemeClr val="dk2"/>
                  </a:solidFill>
                </a:rPr>
                <a:t>: </a:t>
              </a:r>
              <a:r>
                <a:rPr b="1" lang="en-GB" sz="1200">
                  <a:solidFill>
                    <a:schemeClr val="dk2"/>
                  </a:solidFill>
                </a:rPr>
                <a:t>16</a:t>
              </a:r>
              <a:endParaRPr b="1" sz="1200">
                <a:solidFill>
                  <a:schemeClr val="dk2"/>
                </a:solidFill>
              </a:endParaRPr>
            </a:p>
          </p:txBody>
        </p:sp>
        <p:sp>
          <p:nvSpPr>
            <p:cNvPr id="114" name="Google Shape;114;p4"/>
            <p:cNvSpPr txBox="1"/>
            <p:nvPr/>
          </p:nvSpPr>
          <p:spPr>
            <a:xfrm>
              <a:off x="3929600" y="3974263"/>
              <a:ext cx="941400" cy="2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Gut: </a:t>
              </a:r>
              <a:r>
                <a:rPr b="1" lang="en-GB" sz="1200">
                  <a:solidFill>
                    <a:schemeClr val="dk2"/>
                  </a:solidFill>
                </a:rPr>
                <a:t>33</a:t>
              </a:r>
              <a:endParaRPr b="1" sz="1200">
                <a:solidFill>
                  <a:schemeClr val="dk2"/>
                </a:solidFill>
              </a:endParaRPr>
            </a:p>
          </p:txBody>
        </p:sp>
        <p:sp>
          <p:nvSpPr>
            <p:cNvPr id="115" name="Google Shape;115;p4"/>
            <p:cNvSpPr txBox="1"/>
            <p:nvPr/>
          </p:nvSpPr>
          <p:spPr>
            <a:xfrm>
              <a:off x="3929700" y="3536313"/>
              <a:ext cx="941400" cy="2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2"/>
                  </a:solidFill>
                </a:rPr>
                <a:t>Muscle: </a:t>
              </a:r>
              <a:r>
                <a:rPr b="1" lang="en-GB" sz="1200">
                  <a:solidFill>
                    <a:schemeClr val="dk2"/>
                  </a:solidFill>
                </a:rPr>
                <a:t>21</a:t>
              </a:r>
              <a:endParaRPr b="1" sz="1200">
                <a:solidFill>
                  <a:schemeClr val="dk2"/>
                </a:solidFill>
              </a:endParaRPr>
            </a:p>
          </p:txBody>
        </p:sp>
        <p:sp>
          <p:nvSpPr>
            <p:cNvPr id="116" name="Google Shape;116;p4"/>
            <p:cNvSpPr txBox="1"/>
            <p:nvPr/>
          </p:nvSpPr>
          <p:spPr>
            <a:xfrm>
              <a:off x="7728150" y="1757100"/>
              <a:ext cx="941400" cy="2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Lung: </a:t>
              </a:r>
              <a:r>
                <a:rPr b="1" lang="en-GB" sz="1200">
                  <a:solidFill>
                    <a:schemeClr val="dk2"/>
                  </a:solidFill>
                </a:rPr>
                <a:t>15</a:t>
              </a:r>
              <a:endParaRPr b="1" sz="1200">
                <a:solidFill>
                  <a:schemeClr val="dk2"/>
                </a:solidFill>
              </a:endParaRPr>
            </a:p>
          </p:txBody>
        </p:sp>
        <p:sp>
          <p:nvSpPr>
            <p:cNvPr id="117" name="Google Shape;117;p4"/>
            <p:cNvSpPr txBox="1"/>
            <p:nvPr/>
          </p:nvSpPr>
          <p:spPr>
            <a:xfrm>
              <a:off x="7763375" y="2875450"/>
              <a:ext cx="941400" cy="2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Heart / CV: </a:t>
              </a:r>
              <a:r>
                <a:rPr b="1" lang="en-GB" sz="1200">
                  <a:solidFill>
                    <a:schemeClr val="dk2"/>
                  </a:solidFill>
                </a:rPr>
                <a:t>32</a:t>
              </a:r>
              <a:endParaRPr b="1" sz="1200">
                <a:solidFill>
                  <a:schemeClr val="dk2"/>
                </a:solidFill>
              </a:endParaRPr>
            </a:p>
          </p:txBody>
        </p:sp>
        <p:sp>
          <p:nvSpPr>
            <p:cNvPr id="118" name="Google Shape;118;p4"/>
            <p:cNvSpPr txBox="1"/>
            <p:nvPr/>
          </p:nvSpPr>
          <p:spPr>
            <a:xfrm>
              <a:off x="7728150" y="2316275"/>
              <a:ext cx="941400" cy="2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Skin: </a:t>
              </a:r>
              <a:r>
                <a:rPr b="1" lang="en-GB" sz="1200">
                  <a:solidFill>
                    <a:schemeClr val="dk2"/>
                  </a:solidFill>
                </a:rPr>
                <a:t>27</a:t>
              </a:r>
              <a:endParaRPr b="1" sz="1200">
                <a:solidFill>
                  <a:schemeClr val="dk2"/>
                </a:solidFill>
              </a:endParaRPr>
            </a:p>
          </p:txBody>
        </p:sp>
        <p:sp>
          <p:nvSpPr>
            <p:cNvPr id="119" name="Google Shape;119;p4"/>
            <p:cNvSpPr txBox="1"/>
            <p:nvPr/>
          </p:nvSpPr>
          <p:spPr>
            <a:xfrm>
              <a:off x="7728150" y="3404875"/>
              <a:ext cx="941400" cy="2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Blood / Immune: </a:t>
              </a:r>
              <a:r>
                <a:rPr b="1" lang="en-GB" sz="1200">
                  <a:solidFill>
                    <a:schemeClr val="dk2"/>
                  </a:solidFill>
                </a:rPr>
                <a:t>39</a:t>
              </a:r>
              <a:endParaRPr b="1" sz="1200">
                <a:solidFill>
                  <a:schemeClr val="dk2"/>
                </a:solidFill>
              </a:endParaRPr>
            </a:p>
          </p:txBody>
        </p:sp>
        <p:sp>
          <p:nvSpPr>
            <p:cNvPr id="120" name="Google Shape;120;p4"/>
            <p:cNvSpPr txBox="1"/>
            <p:nvPr/>
          </p:nvSpPr>
          <p:spPr>
            <a:xfrm>
              <a:off x="7728150" y="4125900"/>
              <a:ext cx="941400" cy="2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2"/>
                  </a:solidFill>
                </a:rPr>
                <a:t>Bone / Joint: </a:t>
              </a:r>
              <a:r>
                <a:rPr b="1" lang="en-GB" sz="1200">
                  <a:solidFill>
                    <a:schemeClr val="dk2"/>
                  </a:solidFill>
                </a:rPr>
                <a:t>11</a:t>
              </a:r>
              <a:endParaRPr b="1" sz="1200">
                <a:solidFill>
                  <a:schemeClr val="dk2"/>
                </a:solidFill>
              </a:endParaRPr>
            </a:p>
          </p:txBody>
        </p:sp>
        <p:cxnSp>
          <p:nvCxnSpPr>
            <p:cNvPr id="121" name="Google Shape;121;p4"/>
            <p:cNvCxnSpPr/>
            <p:nvPr/>
          </p:nvCxnSpPr>
          <p:spPr>
            <a:xfrm>
              <a:off x="4998350" y="2320450"/>
              <a:ext cx="824100" cy="364200"/>
            </a:xfrm>
            <a:prstGeom prst="straightConnector1">
              <a:avLst/>
            </a:prstGeom>
            <a:noFill/>
            <a:ln cap="flat" cmpd="sng" w="9525">
              <a:solidFill>
                <a:schemeClr val="dk2"/>
              </a:solidFill>
              <a:prstDash val="solid"/>
              <a:round/>
              <a:headEnd len="med" w="med" type="oval"/>
              <a:tailEnd len="med" w="med" type="none"/>
            </a:ln>
          </p:spPr>
        </p:cxnSp>
        <p:cxnSp>
          <p:nvCxnSpPr>
            <p:cNvPr id="122" name="Google Shape;122;p4"/>
            <p:cNvCxnSpPr>
              <a:stCxn id="112" idx="3"/>
            </p:cNvCxnSpPr>
            <p:nvPr/>
          </p:nvCxnSpPr>
          <p:spPr>
            <a:xfrm>
              <a:off x="4871000" y="2742550"/>
              <a:ext cx="1272300" cy="132900"/>
            </a:xfrm>
            <a:prstGeom prst="straightConnector1">
              <a:avLst/>
            </a:prstGeom>
            <a:noFill/>
            <a:ln cap="flat" cmpd="sng" w="9525">
              <a:solidFill>
                <a:schemeClr val="dk2"/>
              </a:solidFill>
              <a:prstDash val="solid"/>
              <a:round/>
              <a:headEnd len="med" w="med" type="oval"/>
              <a:tailEnd len="med" w="med" type="none"/>
            </a:ln>
          </p:spPr>
        </p:cxnSp>
        <p:cxnSp>
          <p:nvCxnSpPr>
            <p:cNvPr id="123" name="Google Shape;123;p4"/>
            <p:cNvCxnSpPr>
              <a:stCxn id="113" idx="3"/>
            </p:cNvCxnSpPr>
            <p:nvPr/>
          </p:nvCxnSpPr>
          <p:spPr>
            <a:xfrm flipH="1" rot="10800000">
              <a:off x="4871000" y="3179075"/>
              <a:ext cx="1272300" cy="42000"/>
            </a:xfrm>
            <a:prstGeom prst="straightConnector1">
              <a:avLst/>
            </a:prstGeom>
            <a:noFill/>
            <a:ln cap="flat" cmpd="sng" w="9525">
              <a:solidFill>
                <a:schemeClr val="dk2"/>
              </a:solidFill>
              <a:prstDash val="solid"/>
              <a:round/>
              <a:headEnd len="med" w="med" type="oval"/>
              <a:tailEnd len="med" w="med" type="none"/>
            </a:ln>
          </p:spPr>
        </p:cxnSp>
        <p:cxnSp>
          <p:nvCxnSpPr>
            <p:cNvPr id="124" name="Google Shape;124;p4"/>
            <p:cNvCxnSpPr>
              <a:stCxn id="114" idx="3"/>
            </p:cNvCxnSpPr>
            <p:nvPr/>
          </p:nvCxnSpPr>
          <p:spPr>
            <a:xfrm flipH="1" rot="10800000">
              <a:off x="4871000" y="3673513"/>
              <a:ext cx="1211700" cy="435000"/>
            </a:xfrm>
            <a:prstGeom prst="straightConnector1">
              <a:avLst/>
            </a:prstGeom>
            <a:noFill/>
            <a:ln cap="flat" cmpd="sng" w="9525">
              <a:solidFill>
                <a:schemeClr val="dk2"/>
              </a:solidFill>
              <a:prstDash val="solid"/>
              <a:round/>
              <a:headEnd len="med" w="med" type="oval"/>
              <a:tailEnd len="med" w="med" type="none"/>
            </a:ln>
          </p:spPr>
        </p:cxnSp>
        <p:cxnSp>
          <p:nvCxnSpPr>
            <p:cNvPr id="125" name="Google Shape;125;p4"/>
            <p:cNvCxnSpPr>
              <a:stCxn id="115" idx="3"/>
            </p:cNvCxnSpPr>
            <p:nvPr/>
          </p:nvCxnSpPr>
          <p:spPr>
            <a:xfrm flipH="1" rot="10800000">
              <a:off x="4871100" y="3387363"/>
              <a:ext cx="890400" cy="283200"/>
            </a:xfrm>
            <a:prstGeom prst="straightConnector1">
              <a:avLst/>
            </a:prstGeom>
            <a:noFill/>
            <a:ln cap="flat" cmpd="sng" w="9525">
              <a:solidFill>
                <a:schemeClr val="dk2"/>
              </a:solidFill>
              <a:prstDash val="solid"/>
              <a:round/>
              <a:headEnd len="med" w="med" type="oval"/>
              <a:tailEnd len="med" w="med" type="none"/>
            </a:ln>
          </p:spPr>
        </p:cxnSp>
        <p:cxnSp>
          <p:nvCxnSpPr>
            <p:cNvPr id="126" name="Google Shape;126;p4"/>
            <p:cNvCxnSpPr>
              <a:stCxn id="110" idx="3"/>
            </p:cNvCxnSpPr>
            <p:nvPr/>
          </p:nvCxnSpPr>
          <p:spPr>
            <a:xfrm>
              <a:off x="4871100" y="1411550"/>
              <a:ext cx="1298100" cy="93600"/>
            </a:xfrm>
            <a:prstGeom prst="straightConnector1">
              <a:avLst/>
            </a:prstGeom>
            <a:noFill/>
            <a:ln cap="flat" cmpd="sng" w="9525">
              <a:solidFill>
                <a:schemeClr val="dk2"/>
              </a:solidFill>
              <a:prstDash val="solid"/>
              <a:round/>
              <a:headEnd len="med" w="med" type="oval"/>
              <a:tailEnd len="med" w="med" type="none"/>
            </a:ln>
          </p:spPr>
        </p:cxnSp>
        <p:cxnSp>
          <p:nvCxnSpPr>
            <p:cNvPr id="127" name="Google Shape;127;p4"/>
            <p:cNvCxnSpPr>
              <a:stCxn id="109" idx="1"/>
            </p:cNvCxnSpPr>
            <p:nvPr/>
          </p:nvCxnSpPr>
          <p:spPr>
            <a:xfrm flipH="1">
              <a:off x="6568175" y="1387400"/>
              <a:ext cx="1023600" cy="22200"/>
            </a:xfrm>
            <a:prstGeom prst="straightConnector1">
              <a:avLst/>
            </a:prstGeom>
            <a:noFill/>
            <a:ln cap="flat" cmpd="sng" w="9525">
              <a:solidFill>
                <a:schemeClr val="dk2"/>
              </a:solidFill>
              <a:prstDash val="solid"/>
              <a:round/>
              <a:headEnd len="med" w="med" type="oval"/>
              <a:tailEnd len="med" w="med" type="none"/>
            </a:ln>
          </p:spPr>
        </p:cxnSp>
        <p:cxnSp>
          <p:nvCxnSpPr>
            <p:cNvPr id="128" name="Google Shape;128;p4"/>
            <p:cNvCxnSpPr>
              <a:stCxn id="116" idx="1"/>
            </p:cNvCxnSpPr>
            <p:nvPr/>
          </p:nvCxnSpPr>
          <p:spPr>
            <a:xfrm flipH="1">
              <a:off x="6620250" y="1891350"/>
              <a:ext cx="1107900" cy="264300"/>
            </a:xfrm>
            <a:prstGeom prst="straightConnector1">
              <a:avLst/>
            </a:prstGeom>
            <a:noFill/>
            <a:ln cap="flat" cmpd="sng" w="9525">
              <a:solidFill>
                <a:schemeClr val="dk2"/>
              </a:solidFill>
              <a:prstDash val="solid"/>
              <a:round/>
              <a:headEnd len="med" w="med" type="oval"/>
              <a:tailEnd len="med" w="med" type="none"/>
            </a:ln>
          </p:spPr>
        </p:cxnSp>
        <p:cxnSp>
          <p:nvCxnSpPr>
            <p:cNvPr id="129" name="Google Shape;129;p4"/>
            <p:cNvCxnSpPr>
              <a:stCxn id="118" idx="1"/>
            </p:cNvCxnSpPr>
            <p:nvPr/>
          </p:nvCxnSpPr>
          <p:spPr>
            <a:xfrm rot="10800000">
              <a:off x="7027950" y="2441825"/>
              <a:ext cx="700200" cy="8700"/>
            </a:xfrm>
            <a:prstGeom prst="straightConnector1">
              <a:avLst/>
            </a:prstGeom>
            <a:noFill/>
            <a:ln cap="flat" cmpd="sng" w="9525">
              <a:solidFill>
                <a:schemeClr val="dk2"/>
              </a:solidFill>
              <a:prstDash val="solid"/>
              <a:round/>
              <a:headEnd len="med" w="med" type="oval"/>
              <a:tailEnd len="med" w="med" type="none"/>
            </a:ln>
          </p:spPr>
        </p:cxnSp>
        <p:cxnSp>
          <p:nvCxnSpPr>
            <p:cNvPr id="130" name="Google Shape;130;p4"/>
            <p:cNvCxnSpPr>
              <a:stCxn id="117" idx="1"/>
            </p:cNvCxnSpPr>
            <p:nvPr/>
          </p:nvCxnSpPr>
          <p:spPr>
            <a:xfrm rot="10800000">
              <a:off x="6446975" y="2563300"/>
              <a:ext cx="1316400" cy="446400"/>
            </a:xfrm>
            <a:prstGeom prst="straightConnector1">
              <a:avLst/>
            </a:prstGeom>
            <a:noFill/>
            <a:ln cap="flat" cmpd="sng" w="9525">
              <a:solidFill>
                <a:schemeClr val="dk2"/>
              </a:solidFill>
              <a:prstDash val="solid"/>
              <a:round/>
              <a:headEnd len="med" w="med" type="oval"/>
              <a:tailEnd len="med" w="med" type="none"/>
            </a:ln>
          </p:spPr>
        </p:cxnSp>
        <p:cxnSp>
          <p:nvCxnSpPr>
            <p:cNvPr id="131" name="Google Shape;131;p4"/>
            <p:cNvCxnSpPr/>
            <p:nvPr/>
          </p:nvCxnSpPr>
          <p:spPr>
            <a:xfrm rot="10800000">
              <a:off x="6975925" y="3022950"/>
              <a:ext cx="893400" cy="720000"/>
            </a:xfrm>
            <a:prstGeom prst="straightConnector1">
              <a:avLst/>
            </a:prstGeom>
            <a:noFill/>
            <a:ln cap="flat" cmpd="sng" w="9525">
              <a:solidFill>
                <a:schemeClr val="dk2"/>
              </a:solidFill>
              <a:prstDash val="solid"/>
              <a:round/>
              <a:headEnd len="med" w="med" type="oval"/>
              <a:tailEnd len="med" w="med" type="none"/>
            </a:ln>
          </p:spPr>
        </p:cxnSp>
        <p:cxnSp>
          <p:nvCxnSpPr>
            <p:cNvPr id="132" name="Google Shape;132;p4"/>
            <p:cNvCxnSpPr>
              <a:stCxn id="120" idx="1"/>
            </p:cNvCxnSpPr>
            <p:nvPr/>
          </p:nvCxnSpPr>
          <p:spPr>
            <a:xfrm rot="10800000">
              <a:off x="7080150" y="3656250"/>
              <a:ext cx="648000" cy="603900"/>
            </a:xfrm>
            <a:prstGeom prst="straightConnector1">
              <a:avLst/>
            </a:prstGeom>
            <a:noFill/>
            <a:ln cap="flat" cmpd="sng" w="9525">
              <a:solidFill>
                <a:schemeClr val="dk2"/>
              </a:solidFill>
              <a:prstDash val="solid"/>
              <a:round/>
              <a:headEnd len="med" w="med" type="oval"/>
              <a:tailEnd len="med" w="med" type="none"/>
            </a:ln>
          </p:spPr>
        </p:cxn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Outcomes: </a:t>
            </a:r>
            <a:r>
              <a:rPr lang="en-GB"/>
              <a:t>Human</a:t>
            </a:r>
            <a:r>
              <a:rPr lang="en-GB"/>
              <a:t> Studies</a:t>
            </a:r>
            <a:endParaRPr/>
          </a:p>
        </p:txBody>
      </p:sp>
      <p:graphicFrame>
        <p:nvGraphicFramePr>
          <p:cNvPr id="138" name="Google Shape;138;p3"/>
          <p:cNvGraphicFramePr/>
          <p:nvPr/>
        </p:nvGraphicFramePr>
        <p:xfrm>
          <a:off x="311700" y="1566375"/>
          <a:ext cx="3000000" cy="3000000"/>
        </p:xfrm>
        <a:graphic>
          <a:graphicData uri="http://schemas.openxmlformats.org/drawingml/2006/table">
            <a:tbl>
              <a:tblPr>
                <a:noFill/>
                <a:tableStyleId>{39DC5FD3-50C2-41E2-853D-93FF70EAA191}</a:tableStyleId>
              </a:tblPr>
              <a:tblGrid>
                <a:gridCol w="2716450"/>
                <a:gridCol w="903050"/>
              </a:tblGrid>
              <a:tr h="381000">
                <a:tc>
                  <a:txBody>
                    <a:bodyPr/>
                    <a:lstStyle/>
                    <a:p>
                      <a:pPr indent="0" lvl="0" marL="0" rtl="0" algn="l">
                        <a:spcBef>
                          <a:spcPts val="0"/>
                        </a:spcBef>
                        <a:spcAft>
                          <a:spcPts val="0"/>
                        </a:spcAft>
                        <a:buNone/>
                      </a:pPr>
                      <a:r>
                        <a:rPr lang="en-GB"/>
                        <a:t>Mortality / Survival</a:t>
                      </a:r>
                      <a:endParaRPr/>
                    </a:p>
                  </a:txBody>
                  <a:tcPr marT="91425" marB="91425" marR="91425" marL="91425"/>
                </a:tc>
                <a:tc>
                  <a:txBody>
                    <a:bodyPr/>
                    <a:lstStyle/>
                    <a:p>
                      <a:pPr indent="0" lvl="0" marL="0" rtl="0" algn="l">
                        <a:spcBef>
                          <a:spcPts val="0"/>
                        </a:spcBef>
                        <a:spcAft>
                          <a:spcPts val="0"/>
                        </a:spcAft>
                        <a:buNone/>
                      </a:pPr>
                      <a:r>
                        <a:rPr lang="en-GB"/>
                        <a:t>3</a:t>
                      </a:r>
                      <a:endParaRPr/>
                    </a:p>
                  </a:txBody>
                  <a:tcPr marT="91425" marB="91425" marR="91425" marL="91425"/>
                </a:tc>
              </a:tr>
              <a:tr h="381000">
                <a:tc>
                  <a:txBody>
                    <a:bodyPr/>
                    <a:lstStyle/>
                    <a:p>
                      <a:pPr indent="0" lvl="0" marL="0" rtl="0" algn="l">
                        <a:spcBef>
                          <a:spcPts val="0"/>
                        </a:spcBef>
                        <a:spcAft>
                          <a:spcPts val="0"/>
                        </a:spcAft>
                        <a:buNone/>
                      </a:pPr>
                      <a:r>
                        <a:rPr lang="en-GB"/>
                        <a:t>Cardiovascular</a:t>
                      </a:r>
                      <a:endParaRPr/>
                    </a:p>
                  </a:txBody>
                  <a:tcPr marT="91425" marB="91425" marR="91425" marL="91425"/>
                </a:tc>
                <a:tc>
                  <a:txBody>
                    <a:bodyPr/>
                    <a:lstStyle/>
                    <a:p>
                      <a:pPr indent="0" lvl="0" marL="0" rtl="0" algn="l">
                        <a:spcBef>
                          <a:spcPts val="0"/>
                        </a:spcBef>
                        <a:spcAft>
                          <a:spcPts val="0"/>
                        </a:spcAft>
                        <a:buNone/>
                      </a:pPr>
                      <a:r>
                        <a:rPr lang="en-GB"/>
                        <a:t>2</a:t>
                      </a:r>
                      <a:endParaRPr/>
                    </a:p>
                  </a:txBody>
                  <a:tcPr marT="91425" marB="91425" marR="91425" marL="91425"/>
                </a:tc>
              </a:tr>
              <a:tr h="381000">
                <a:tc>
                  <a:txBody>
                    <a:bodyPr/>
                    <a:lstStyle/>
                    <a:p>
                      <a:pPr indent="0" lvl="0" marL="0" rtl="0" algn="l">
                        <a:spcBef>
                          <a:spcPts val="0"/>
                        </a:spcBef>
                        <a:spcAft>
                          <a:spcPts val="0"/>
                        </a:spcAft>
                        <a:buNone/>
                      </a:pPr>
                      <a:r>
                        <a:rPr lang="en-GB"/>
                        <a:t>Cognitive / Neurodegeneration</a:t>
                      </a:r>
                      <a:endParaRPr/>
                    </a:p>
                  </a:txBody>
                  <a:tcPr marT="91425" marB="91425" marR="91425" marL="91425"/>
                </a:tc>
                <a:tc>
                  <a:txBody>
                    <a:bodyPr/>
                    <a:lstStyle/>
                    <a:p>
                      <a:pPr indent="0" lvl="0" marL="0" rtl="0" algn="l">
                        <a:spcBef>
                          <a:spcPts val="0"/>
                        </a:spcBef>
                        <a:spcAft>
                          <a:spcPts val="0"/>
                        </a:spcAft>
                        <a:buNone/>
                      </a:pPr>
                      <a:r>
                        <a:rPr lang="en-GB"/>
                        <a:t>8</a:t>
                      </a:r>
                      <a:endParaRPr/>
                    </a:p>
                  </a:txBody>
                  <a:tcPr marT="91425" marB="91425" marR="91425" marL="91425"/>
                </a:tc>
              </a:tr>
              <a:tr h="381000">
                <a:tc>
                  <a:txBody>
                    <a:bodyPr/>
                    <a:lstStyle/>
                    <a:p>
                      <a:pPr indent="0" lvl="0" marL="0" rtl="0" algn="l">
                        <a:spcBef>
                          <a:spcPts val="0"/>
                        </a:spcBef>
                        <a:spcAft>
                          <a:spcPts val="0"/>
                        </a:spcAft>
                        <a:buNone/>
                      </a:pPr>
                      <a:r>
                        <a:rPr lang="en-GB"/>
                        <a:t>Physical Function / Frailty</a:t>
                      </a:r>
                      <a:endParaRPr/>
                    </a:p>
                  </a:txBody>
                  <a:tcPr marT="91425" marB="91425" marR="91425" marL="91425"/>
                </a:tc>
                <a:tc>
                  <a:txBody>
                    <a:bodyPr/>
                    <a:lstStyle/>
                    <a:p>
                      <a:pPr indent="0" lvl="0" marL="0" rtl="0" algn="l">
                        <a:spcBef>
                          <a:spcPts val="0"/>
                        </a:spcBef>
                        <a:spcAft>
                          <a:spcPts val="0"/>
                        </a:spcAft>
                        <a:buNone/>
                      </a:pPr>
                      <a:r>
                        <a:rPr lang="en-GB"/>
                        <a:t>2</a:t>
                      </a:r>
                      <a:endParaRPr/>
                    </a:p>
                  </a:txBody>
                  <a:tcPr marT="91425" marB="91425" marR="91425" marL="91425"/>
                </a:tc>
              </a:tr>
              <a:tr h="381000">
                <a:tc>
                  <a:txBody>
                    <a:bodyPr/>
                    <a:lstStyle/>
                    <a:p>
                      <a:pPr indent="0" lvl="0" marL="0" rtl="0" algn="l">
                        <a:spcBef>
                          <a:spcPts val="0"/>
                        </a:spcBef>
                        <a:spcAft>
                          <a:spcPts val="0"/>
                        </a:spcAft>
                        <a:buNone/>
                      </a:pPr>
                      <a:r>
                        <a:rPr lang="en-GB"/>
                        <a:t>Aging / </a:t>
                      </a:r>
                      <a:r>
                        <a:rPr lang="en-GB"/>
                        <a:t>Senescence</a:t>
                      </a:r>
                      <a:r>
                        <a:rPr lang="en-GB"/>
                        <a:t> </a:t>
                      </a:r>
                      <a:endParaRPr/>
                    </a:p>
                  </a:txBody>
                  <a:tcPr marT="91425" marB="91425" marR="91425" marL="91425"/>
                </a:tc>
                <a:tc>
                  <a:txBody>
                    <a:bodyPr/>
                    <a:lstStyle/>
                    <a:p>
                      <a:pPr indent="0" lvl="0" marL="0" rtl="0" algn="l">
                        <a:spcBef>
                          <a:spcPts val="0"/>
                        </a:spcBef>
                        <a:spcAft>
                          <a:spcPts val="0"/>
                        </a:spcAft>
                        <a:buNone/>
                      </a:pPr>
                      <a:r>
                        <a:rPr lang="en-GB"/>
                        <a:t>2</a:t>
                      </a:r>
                      <a:endParaRPr/>
                    </a:p>
                  </a:txBody>
                  <a:tcPr marT="91425" marB="91425" marR="91425" marL="91425"/>
                </a:tc>
              </a:tr>
              <a:tr h="381000">
                <a:tc>
                  <a:txBody>
                    <a:bodyPr/>
                    <a:lstStyle/>
                    <a:p>
                      <a:pPr indent="0" lvl="0" marL="0" rtl="0" algn="l">
                        <a:spcBef>
                          <a:spcPts val="0"/>
                        </a:spcBef>
                        <a:spcAft>
                          <a:spcPts val="0"/>
                        </a:spcAft>
                        <a:buNone/>
                      </a:pPr>
                      <a:r>
                        <a:rPr lang="en-GB"/>
                        <a:t>Nutrition / Dietary</a:t>
                      </a:r>
                      <a:endParaRPr/>
                    </a:p>
                  </a:txBody>
                  <a:tcPr marT="91425" marB="91425" marR="91425" marL="91425"/>
                </a:tc>
                <a:tc>
                  <a:txBody>
                    <a:bodyPr/>
                    <a:lstStyle/>
                    <a:p>
                      <a:pPr indent="0" lvl="0" marL="0" rtl="0" algn="l">
                        <a:spcBef>
                          <a:spcPts val="0"/>
                        </a:spcBef>
                        <a:spcAft>
                          <a:spcPts val="0"/>
                        </a:spcAft>
                        <a:buNone/>
                      </a:pPr>
                      <a:r>
                        <a:rPr lang="en-GB"/>
                        <a:t>6</a:t>
                      </a:r>
                      <a:endParaRPr/>
                    </a:p>
                  </a:txBody>
                  <a:tcPr marT="91425" marB="91425" marR="91425" marL="91425"/>
                </a:tc>
              </a:tr>
            </a:tbl>
          </a:graphicData>
        </a:graphic>
      </p:graphicFrame>
      <p:graphicFrame>
        <p:nvGraphicFramePr>
          <p:cNvPr id="139" name="Google Shape;139;p3"/>
          <p:cNvGraphicFramePr/>
          <p:nvPr/>
        </p:nvGraphicFramePr>
        <p:xfrm>
          <a:off x="4854700" y="2754975"/>
          <a:ext cx="3000000" cy="3000000"/>
        </p:xfrm>
        <a:graphic>
          <a:graphicData uri="http://schemas.openxmlformats.org/drawingml/2006/table">
            <a:tbl>
              <a:tblPr>
                <a:noFill/>
                <a:tableStyleId>{39DC5FD3-50C2-41E2-853D-93FF70EAA191}</a:tableStyleId>
              </a:tblPr>
              <a:tblGrid>
                <a:gridCol w="2793300"/>
                <a:gridCol w="826200"/>
              </a:tblGrid>
              <a:tr h="381000">
                <a:tc>
                  <a:txBody>
                    <a:bodyPr/>
                    <a:lstStyle/>
                    <a:p>
                      <a:pPr indent="0" lvl="0" marL="0" rtl="0" algn="l">
                        <a:spcBef>
                          <a:spcPts val="0"/>
                        </a:spcBef>
                        <a:spcAft>
                          <a:spcPts val="0"/>
                        </a:spcAft>
                        <a:buNone/>
                      </a:pPr>
                      <a:r>
                        <a:rPr lang="en-GB"/>
                        <a:t>Cognitive / Brain</a:t>
                      </a:r>
                      <a:endParaRPr/>
                    </a:p>
                  </a:txBody>
                  <a:tcPr marT="91425" marB="91425" marR="91425" marL="91425"/>
                </a:tc>
                <a:tc>
                  <a:txBody>
                    <a:bodyPr/>
                    <a:lstStyle/>
                    <a:p>
                      <a:pPr indent="0" lvl="0" marL="0" rtl="0" algn="l">
                        <a:spcBef>
                          <a:spcPts val="0"/>
                        </a:spcBef>
                        <a:spcAft>
                          <a:spcPts val="0"/>
                        </a:spcAft>
                        <a:buNone/>
                      </a:pPr>
                      <a:r>
                        <a:rPr lang="en-GB"/>
                        <a:t>1</a:t>
                      </a:r>
                      <a:endParaRPr/>
                    </a:p>
                  </a:txBody>
                  <a:tcPr marT="91425" marB="91425" marR="91425" marL="91425"/>
                </a:tc>
              </a:tr>
              <a:tr h="381000">
                <a:tc>
                  <a:txBody>
                    <a:bodyPr/>
                    <a:lstStyle/>
                    <a:p>
                      <a:pPr indent="0" lvl="0" marL="0" rtl="0" algn="l">
                        <a:spcBef>
                          <a:spcPts val="0"/>
                        </a:spcBef>
                        <a:spcAft>
                          <a:spcPts val="0"/>
                        </a:spcAft>
                        <a:buNone/>
                      </a:pPr>
                      <a:r>
                        <a:rPr lang="en-GB"/>
                        <a:t>Metabolic / Diabetes</a:t>
                      </a:r>
                      <a:endParaRPr/>
                    </a:p>
                  </a:txBody>
                  <a:tcPr marT="91425" marB="91425" marR="91425" marL="91425"/>
                </a:tc>
                <a:tc>
                  <a:txBody>
                    <a:bodyPr/>
                    <a:lstStyle/>
                    <a:p>
                      <a:pPr indent="0" lvl="0" marL="0" rtl="0" algn="l">
                        <a:spcBef>
                          <a:spcPts val="0"/>
                        </a:spcBef>
                        <a:spcAft>
                          <a:spcPts val="0"/>
                        </a:spcAft>
                        <a:buNone/>
                      </a:pPr>
                      <a:r>
                        <a:rPr lang="en-GB"/>
                        <a:t>1</a:t>
                      </a:r>
                      <a:endParaRPr/>
                    </a:p>
                  </a:txBody>
                  <a:tcPr marT="91425" marB="91425" marR="91425" marL="91425"/>
                </a:tc>
              </a:tr>
              <a:tr h="381000">
                <a:tc>
                  <a:txBody>
                    <a:bodyPr/>
                    <a:lstStyle/>
                    <a:p>
                      <a:pPr indent="0" lvl="0" marL="0" rtl="0" algn="l">
                        <a:spcBef>
                          <a:spcPts val="0"/>
                        </a:spcBef>
                        <a:spcAft>
                          <a:spcPts val="0"/>
                        </a:spcAft>
                        <a:buNone/>
                      </a:pPr>
                      <a:r>
                        <a:rPr lang="en-GB"/>
                        <a:t>Ovarian / Reproductive</a:t>
                      </a:r>
                      <a:endParaRPr/>
                    </a:p>
                  </a:txBody>
                  <a:tcPr marT="91425" marB="91425" marR="91425" marL="91425"/>
                </a:tc>
                <a:tc>
                  <a:txBody>
                    <a:bodyPr/>
                    <a:lstStyle/>
                    <a:p>
                      <a:pPr indent="0" lvl="0" marL="0" rtl="0" algn="l">
                        <a:spcBef>
                          <a:spcPts val="0"/>
                        </a:spcBef>
                        <a:spcAft>
                          <a:spcPts val="0"/>
                        </a:spcAft>
                        <a:buNone/>
                      </a:pPr>
                      <a:r>
                        <a:rPr lang="en-GB"/>
                        <a:t>1</a:t>
                      </a:r>
                      <a:endParaRPr/>
                    </a:p>
                  </a:txBody>
                  <a:tcPr marT="91425" marB="91425" marR="91425" marL="91425"/>
                </a:tc>
              </a:tr>
            </a:tbl>
          </a:graphicData>
        </a:graphic>
      </p:graphicFrame>
      <p:sp>
        <p:nvSpPr>
          <p:cNvPr id="140" name="Google Shape;140;p3"/>
          <p:cNvSpPr txBox="1"/>
          <p:nvPr/>
        </p:nvSpPr>
        <p:spPr>
          <a:xfrm>
            <a:off x="311700" y="4094750"/>
            <a:ext cx="36195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PubMed: Observational Studies</a:t>
            </a:r>
            <a:endParaRPr sz="1800">
              <a:solidFill>
                <a:schemeClr val="dk2"/>
              </a:solidFill>
            </a:endParaRPr>
          </a:p>
        </p:txBody>
      </p:sp>
      <p:sp>
        <p:nvSpPr>
          <p:cNvPr id="141" name="Google Shape;141;p3"/>
          <p:cNvSpPr txBox="1"/>
          <p:nvPr/>
        </p:nvSpPr>
        <p:spPr>
          <a:xfrm>
            <a:off x="4854700" y="4094755"/>
            <a:ext cx="36195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PubMed: Interventional (RCT)</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f44ad2df4b_0_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Mechanisms: Geroprotective Greatest Hits</a:t>
            </a:r>
            <a:endParaRPr/>
          </a:p>
        </p:txBody>
      </p:sp>
      <p:sp>
        <p:nvSpPr>
          <p:cNvPr id="147" name="Google Shape;147;g3f44ad2df4b_0_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00000"/>
              <a:buNone/>
            </a:pPr>
            <a:r>
              <a:rPr lang="en-GB"/>
              <a:t>Gao 2025: Neuroprotection (Parkinson's model)</a:t>
            </a:r>
            <a:endParaRPr/>
          </a:p>
          <a:p>
            <a:pPr indent="-325755" lvl="0" marL="457200" rtl="0" algn="l">
              <a:lnSpc>
                <a:spcPct val="115000"/>
              </a:lnSpc>
              <a:spcBef>
                <a:spcPts val="0"/>
              </a:spcBef>
              <a:spcAft>
                <a:spcPts val="0"/>
              </a:spcAft>
              <a:buSzPct val="100000"/>
              <a:buChar char="●"/>
            </a:pPr>
            <a:r>
              <a:rPr lang="en-GB"/>
              <a:t>EGT reduces α-synuclein aggregation, protects dopaminergic neurons</a:t>
            </a:r>
            <a:endParaRPr/>
          </a:p>
          <a:p>
            <a:pPr indent="0" lvl="0" marL="457200" rtl="0" algn="l">
              <a:lnSpc>
                <a:spcPct val="115000"/>
              </a:lnSpc>
              <a:spcBef>
                <a:spcPts val="0"/>
              </a:spcBef>
              <a:spcAft>
                <a:spcPts val="0"/>
              </a:spcAft>
              <a:buSzPct val="117647"/>
              <a:buNone/>
            </a:pPr>
            <a:r>
              <a:t/>
            </a:r>
            <a:endParaRPr/>
          </a:p>
          <a:p>
            <a:pPr indent="0" lvl="0" marL="0" rtl="0" algn="l">
              <a:lnSpc>
                <a:spcPct val="115000"/>
              </a:lnSpc>
              <a:spcBef>
                <a:spcPts val="0"/>
              </a:spcBef>
              <a:spcAft>
                <a:spcPts val="0"/>
              </a:spcAft>
              <a:buSzPct val="117647"/>
              <a:buNone/>
            </a:pPr>
            <a:r>
              <a:rPr lang="en-GB"/>
              <a:t>Sprenger 2025: First direct molecular target (Cell Metabolism)</a:t>
            </a:r>
            <a:endParaRPr/>
          </a:p>
          <a:p>
            <a:pPr indent="-325755" lvl="0" marL="457200" rtl="0" algn="l">
              <a:lnSpc>
                <a:spcPct val="115000"/>
              </a:lnSpc>
              <a:spcBef>
                <a:spcPts val="0"/>
              </a:spcBef>
              <a:spcAft>
                <a:spcPts val="0"/>
              </a:spcAft>
              <a:buSzPct val="100000"/>
              <a:buChar char="●"/>
            </a:pPr>
            <a:r>
              <a:rPr lang="en-GB"/>
              <a:t>EGT directly binds and activates MPST, boosting mitochondrial respiration</a:t>
            </a:r>
            <a:endParaRPr/>
          </a:p>
          <a:p>
            <a:pPr indent="0" lvl="0" marL="0" rtl="0" algn="l">
              <a:lnSpc>
                <a:spcPct val="115000"/>
              </a:lnSpc>
              <a:spcBef>
                <a:spcPts val="0"/>
              </a:spcBef>
              <a:spcAft>
                <a:spcPts val="0"/>
              </a:spcAft>
              <a:buSzPct val="117647"/>
              <a:buNone/>
            </a:pPr>
            <a:r>
              <a:t/>
            </a:r>
            <a:endParaRPr/>
          </a:p>
          <a:p>
            <a:pPr indent="0" lvl="0" marL="0" rtl="0" algn="l">
              <a:lnSpc>
                <a:spcPct val="115000"/>
              </a:lnSpc>
              <a:spcBef>
                <a:spcPts val="0"/>
              </a:spcBef>
              <a:spcAft>
                <a:spcPts val="0"/>
              </a:spcAft>
              <a:buSzPct val="117647"/>
              <a:buNone/>
            </a:pPr>
            <a:r>
              <a:rPr lang="en-GB"/>
              <a:t>D'Onofrio 2016: SIRT6 causal proof (Free Radic Biol Med)</a:t>
            </a:r>
            <a:endParaRPr/>
          </a:p>
          <a:p>
            <a:pPr indent="-325755" lvl="0" marL="457200" rtl="0" algn="l">
              <a:lnSpc>
                <a:spcPct val="115000"/>
              </a:lnSpc>
              <a:spcBef>
                <a:spcPts val="0"/>
              </a:spcBef>
              <a:spcAft>
                <a:spcPts val="0"/>
              </a:spcAft>
              <a:buSzPct val="100000"/>
              <a:buChar char="●"/>
            </a:pPr>
            <a:r>
              <a:rPr lang="en-GB"/>
              <a:t>0.5mM EGT prevents endothelial senescence; SIRT6 silencing abolishes entirely</a:t>
            </a:r>
            <a:endParaRPr/>
          </a:p>
          <a:p>
            <a:pPr indent="0" lvl="0" marL="0" rtl="0" algn="l">
              <a:lnSpc>
                <a:spcPct val="115000"/>
              </a:lnSpc>
              <a:spcBef>
                <a:spcPts val="0"/>
              </a:spcBef>
              <a:spcAft>
                <a:spcPts val="0"/>
              </a:spcAft>
              <a:buSzPct val="117647"/>
              <a:buNone/>
            </a:pPr>
            <a:r>
              <a:t/>
            </a:r>
            <a:endParaRPr/>
          </a:p>
          <a:p>
            <a:pPr indent="0" lvl="0" marL="0" rtl="0" algn="l">
              <a:lnSpc>
                <a:spcPct val="115000"/>
              </a:lnSpc>
              <a:spcBef>
                <a:spcPts val="0"/>
              </a:spcBef>
              <a:spcAft>
                <a:spcPts val="0"/>
              </a:spcAft>
              <a:buSzPct val="117647"/>
              <a:buNone/>
            </a:pPr>
            <a:r>
              <a:rPr lang="en-GB"/>
              <a:t>Kim 2017: Corneal endothelial protection (IOVS)</a:t>
            </a:r>
            <a:endParaRPr/>
          </a:p>
          <a:p>
            <a:pPr indent="-325755" lvl="0" marL="457200" rtl="0" algn="l">
              <a:lnSpc>
                <a:spcPct val="115000"/>
              </a:lnSpc>
              <a:spcBef>
                <a:spcPts val="0"/>
              </a:spcBef>
              <a:spcAft>
                <a:spcPts val="0"/>
              </a:spcAft>
              <a:buSzPct val="100000"/>
              <a:buChar char="●"/>
            </a:pPr>
            <a:r>
              <a:rPr lang="en-GB"/>
              <a:t>EGT protects against UPR and oxidative stress in corneal cells</a:t>
            </a:r>
            <a:endParaRPr/>
          </a:p>
          <a:p>
            <a:pPr indent="0" lvl="0" marL="0" rtl="0" algn="l">
              <a:lnSpc>
                <a:spcPct val="115000"/>
              </a:lnSpc>
              <a:spcBef>
                <a:spcPts val="0"/>
              </a:spcBef>
              <a:spcAft>
                <a:spcPts val="0"/>
              </a:spcAft>
              <a:buSzPct val="117647"/>
              <a:buNone/>
            </a:pPr>
            <a:r>
              <a:t/>
            </a:r>
            <a:endParaRPr/>
          </a:p>
          <a:p>
            <a:pPr indent="0" lvl="0" marL="0" rtl="0" algn="l">
              <a:lnSpc>
                <a:spcPct val="115000"/>
              </a:lnSpc>
              <a:spcBef>
                <a:spcPts val="0"/>
              </a:spcBef>
              <a:spcAft>
                <a:spcPts val="0"/>
              </a:spcAft>
              <a:buSzPct val="117647"/>
              <a:buNone/>
            </a:pPr>
            <a:r>
              <a:rPr lang="en-GB"/>
              <a:t>Li 2024: Antioxidant mechanism (Clin Cosmet Investig Dermatol)</a:t>
            </a:r>
            <a:endParaRPr/>
          </a:p>
          <a:p>
            <a:pPr indent="-325755" lvl="0" marL="457200" rtl="0" algn="l">
              <a:lnSpc>
                <a:spcPct val="115000"/>
              </a:lnSpc>
              <a:spcBef>
                <a:spcPts val="0"/>
              </a:spcBef>
              <a:spcAft>
                <a:spcPts val="0"/>
              </a:spcAft>
              <a:buSzPct val="100000"/>
              <a:buChar char="●"/>
            </a:pPr>
            <a:r>
              <a:rPr lang="en-GB"/>
              <a:t>PI3K/AKT/Nrf2 pathway activation against UV-induced oxidative damage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f44ad2df4b_0_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Human Outcome Studies: Geroprotective Greatest Hits</a:t>
            </a:r>
            <a:endParaRPr/>
          </a:p>
        </p:txBody>
      </p:sp>
      <p:sp>
        <p:nvSpPr>
          <p:cNvPr id="153" name="Google Shape;153;g3f44ad2df4b_0_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0000"/>
              <a:buNone/>
            </a:pPr>
            <a:r>
              <a:rPr lang="en-GB"/>
              <a:t>Smith et al. 2020: Malmö Diet &amp; Cancer Study (N=3,236, 21yr)</a:t>
            </a:r>
            <a:endParaRPr/>
          </a:p>
          <a:p>
            <a:pPr indent="-334328" lvl="0" marL="457200" rtl="0" algn="l">
              <a:lnSpc>
                <a:spcPct val="115000"/>
              </a:lnSpc>
              <a:spcBef>
                <a:spcPts val="0"/>
              </a:spcBef>
              <a:spcAft>
                <a:spcPts val="0"/>
              </a:spcAft>
              <a:buSzPct val="100000"/>
              <a:buChar char="●"/>
            </a:pPr>
            <a:r>
              <a:rPr lang="en-GB"/>
              <a:t>21% lower CV mortality (HR 0.79, p=0.002), 14% lower all-cause (HR 0.86, p=4e-5)</a:t>
            </a:r>
            <a:endParaRPr/>
          </a:p>
          <a:p>
            <a:pPr indent="0" lvl="0" marL="457200" rtl="0" algn="l">
              <a:lnSpc>
                <a:spcPct val="115000"/>
              </a:lnSpc>
              <a:spcBef>
                <a:spcPts val="0"/>
              </a:spcBef>
              <a:spcAft>
                <a:spcPts val="0"/>
              </a:spcAft>
              <a:buSzPct val="108108"/>
              <a:buNone/>
            </a:pPr>
            <a:r>
              <a:t/>
            </a:r>
            <a:endParaRPr/>
          </a:p>
          <a:p>
            <a:pPr indent="0" lvl="0" marL="0" rtl="0" algn="l">
              <a:lnSpc>
                <a:spcPct val="115000"/>
              </a:lnSpc>
              <a:spcBef>
                <a:spcPts val="0"/>
              </a:spcBef>
              <a:spcAft>
                <a:spcPts val="0"/>
              </a:spcAft>
              <a:buSzPct val="108108"/>
              <a:buNone/>
            </a:pPr>
            <a:r>
              <a:rPr lang="en-GB"/>
              <a:t>Yau et al. 2024: EGT-Mild Cognitive Impairment (MCI) Pilot (1yr, MCI patients)</a:t>
            </a:r>
            <a:endParaRPr/>
          </a:p>
          <a:p>
            <a:pPr indent="-334328" lvl="0" marL="457200" rtl="0" algn="l">
              <a:lnSpc>
                <a:spcPct val="115000"/>
              </a:lnSpc>
              <a:spcBef>
                <a:spcPts val="0"/>
              </a:spcBef>
              <a:spcAft>
                <a:spcPts val="0"/>
              </a:spcAft>
              <a:buSzPct val="100000"/>
              <a:buChar char="●"/>
            </a:pPr>
            <a:r>
              <a:rPr lang="en-GB"/>
              <a:t>Cognitive stabilization, improved learning/memory (AVLT), safe at 1 year</a:t>
            </a:r>
            <a:endParaRPr/>
          </a:p>
          <a:p>
            <a:pPr indent="0" lvl="0" marL="457200" rtl="0" algn="l">
              <a:lnSpc>
                <a:spcPct val="115000"/>
              </a:lnSpc>
              <a:spcBef>
                <a:spcPts val="0"/>
              </a:spcBef>
              <a:spcAft>
                <a:spcPts val="0"/>
              </a:spcAft>
              <a:buSzPct val="108108"/>
              <a:buNone/>
            </a:pPr>
            <a:r>
              <a:t/>
            </a:r>
            <a:endParaRPr/>
          </a:p>
          <a:p>
            <a:pPr indent="0" lvl="0" marL="0" rtl="0" algn="l">
              <a:lnSpc>
                <a:spcPct val="115000"/>
              </a:lnSpc>
              <a:spcBef>
                <a:spcPts val="0"/>
              </a:spcBef>
              <a:spcAft>
                <a:spcPts val="0"/>
              </a:spcAft>
              <a:buSzPct val="108108"/>
              <a:buNone/>
            </a:pPr>
            <a:r>
              <a:rPr lang="en-GB"/>
              <a:t>Katsube et al. 2022: Sleep RCT (20mg/day, 4wk)</a:t>
            </a:r>
            <a:endParaRPr/>
          </a:p>
          <a:p>
            <a:pPr indent="-334328" lvl="0" marL="457200" rtl="0" algn="l">
              <a:lnSpc>
                <a:spcPct val="115000"/>
              </a:lnSpc>
              <a:spcBef>
                <a:spcPts val="0"/>
              </a:spcBef>
              <a:spcAft>
                <a:spcPts val="0"/>
              </a:spcAft>
              <a:buSzPct val="100000"/>
              <a:buChar char="●"/>
            </a:pPr>
            <a:r>
              <a:rPr lang="en-GB"/>
              <a:t>Improved PSQI, increased deep sleep (EEG N2 stage), decreased waking after onset</a:t>
            </a:r>
            <a:endParaRPr/>
          </a:p>
          <a:p>
            <a:pPr indent="0" lvl="0" marL="457200" rtl="0" algn="l">
              <a:lnSpc>
                <a:spcPct val="115000"/>
              </a:lnSpc>
              <a:spcBef>
                <a:spcPts val="0"/>
              </a:spcBef>
              <a:spcAft>
                <a:spcPts val="0"/>
              </a:spcAft>
              <a:buSzPct val="108108"/>
              <a:buNone/>
            </a:pPr>
            <a:r>
              <a:t/>
            </a:r>
            <a:endParaRPr/>
          </a:p>
          <a:p>
            <a:pPr indent="0" lvl="0" marL="0" rtl="0" algn="l">
              <a:lnSpc>
                <a:spcPct val="115000"/>
              </a:lnSpc>
              <a:spcBef>
                <a:spcPts val="0"/>
              </a:spcBef>
              <a:spcAft>
                <a:spcPts val="0"/>
              </a:spcAft>
              <a:buSzPct val="108108"/>
              <a:buNone/>
            </a:pPr>
            <a:r>
              <a:rPr lang="en-GB"/>
              <a:t>Hseu 2020, Ko 2021, Li 2024: Dermatological studies</a:t>
            </a:r>
            <a:endParaRPr/>
          </a:p>
          <a:p>
            <a:pPr indent="-334328" lvl="0" marL="457200" rtl="0" algn="l">
              <a:lnSpc>
                <a:spcPct val="115000"/>
              </a:lnSpc>
              <a:spcBef>
                <a:spcPts val="0"/>
              </a:spcBef>
              <a:spcAft>
                <a:spcPts val="0"/>
              </a:spcAft>
              <a:buSzPct val="100000"/>
              <a:buChar char="●"/>
            </a:pPr>
            <a:r>
              <a:rPr lang="en-GB"/>
              <a:t>EGT protects against UVA/UVB photoaging via Nrf2/HO-1 and PI3K/AKT pathways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Geroprotective Taxonomy: The Gap</a:t>
            </a:r>
            <a:endParaRPr/>
          </a:p>
        </p:txBody>
      </p:sp>
      <p:sp>
        <p:nvSpPr>
          <p:cNvPr id="159" name="Google Shape;159;p5"/>
          <p:cNvSpPr txBox="1"/>
          <p:nvPr>
            <p:ph idx="1" type="body"/>
          </p:nvPr>
        </p:nvSpPr>
        <p:spPr>
          <a:xfrm>
            <a:off x="311700" y="11524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EGT demonstrates potential in major branches of cellular longevity research </a:t>
            </a:r>
            <a:endParaRPr/>
          </a:p>
          <a:p>
            <a:pPr indent="0" lvl="0" marL="0" rtl="0" algn="l">
              <a:lnSpc>
                <a:spcPct val="115000"/>
              </a:lnSpc>
              <a:spcBef>
                <a:spcPts val="1200"/>
              </a:spcBef>
              <a:spcAft>
                <a:spcPts val="1200"/>
              </a:spcAft>
              <a:buSzPts val="1800"/>
              <a:buNone/>
            </a:pPr>
            <a:r>
              <a:t/>
            </a:r>
            <a:endParaRPr/>
          </a:p>
        </p:txBody>
      </p:sp>
      <p:graphicFrame>
        <p:nvGraphicFramePr>
          <p:cNvPr id="160" name="Google Shape;160;p5"/>
          <p:cNvGraphicFramePr/>
          <p:nvPr/>
        </p:nvGraphicFramePr>
        <p:xfrm>
          <a:off x="240250" y="2040019"/>
          <a:ext cx="3000000" cy="3000000"/>
        </p:xfrm>
        <a:graphic>
          <a:graphicData uri="http://schemas.openxmlformats.org/drawingml/2006/table">
            <a:tbl>
              <a:tblPr>
                <a:noFill/>
                <a:tableStyleId>{655F842E-096B-4A1F-9849-846BB7E25257}</a:tableStyleId>
              </a:tblPr>
              <a:tblGrid>
                <a:gridCol w="1254675"/>
                <a:gridCol w="1407650"/>
                <a:gridCol w="1465000"/>
                <a:gridCol w="2124700"/>
                <a:gridCol w="2411475"/>
              </a:tblGrid>
              <a:tr h="381000">
                <a:tc gridSpan="4">
                  <a:txBody>
                    <a:bodyPr/>
                    <a:lstStyle/>
                    <a:p>
                      <a:pPr indent="0" lvl="0" marL="0" marR="0" rtl="0" algn="ctr">
                        <a:lnSpc>
                          <a:spcPct val="100000"/>
                        </a:lnSpc>
                        <a:spcBef>
                          <a:spcPts val="0"/>
                        </a:spcBef>
                        <a:spcAft>
                          <a:spcPts val="0"/>
                        </a:spcAft>
                        <a:buClr>
                          <a:srgbClr val="000000"/>
                        </a:buClr>
                        <a:buSzPts val="1100"/>
                        <a:buFont typeface="Arial"/>
                        <a:buNone/>
                      </a:pPr>
                      <a:r>
                        <a:rPr lang="en-GB" sz="1100" u="none" cap="none" strike="noStrike"/>
                        <a:t>Taxonomy of Longevity Endpoints</a:t>
                      </a:r>
                      <a:endParaRPr sz="1100" u="none" cap="none" strike="noStrike"/>
                    </a:p>
                  </a:txBody>
                  <a:tcPr marT="91425" marB="91425" marR="91425" marL="91425">
                    <a:lnB cap="flat" cmpd="sng" w="9525">
                      <a:solidFill>
                        <a:srgbClr val="9E9E9E"/>
                      </a:solidFill>
                      <a:prstDash val="solid"/>
                      <a:round/>
                      <a:headEnd len="sm" w="sm" type="none"/>
                      <a:tailEnd len="sm" w="sm" type="none"/>
                    </a:lnB>
                    <a:solidFill>
                      <a:srgbClr val="C9DAF8"/>
                    </a:solidFill>
                  </a:tcPr>
                </a:tc>
                <a:tc hMerge="1"/>
                <a:tc hMerge="1"/>
                <a:tc hMerge="1"/>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Academic Study</a:t>
                      </a:r>
                      <a:endParaRPr sz="1400" u="none" cap="none" strike="noStrike"/>
                    </a:p>
                  </a:txBody>
                  <a:tcPr marT="91425" marB="91425" marR="91425" marL="91425">
                    <a:solidFill>
                      <a:srgbClr val="C9DAF8"/>
                    </a:solidFill>
                  </a:tcPr>
                </a:tc>
              </a:tr>
              <a:tr h="381000">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t>Oxidative Stress</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[5,7,8]</a:t>
                      </a:r>
                      <a:endParaRPr sz="1400" u="none" cap="none" strike="noStrike"/>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t>Telomere Attrition</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[1]</a:t>
                      </a:r>
                      <a:endParaRPr sz="1400" u="none" cap="none" strike="noStrike"/>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GB" sz="1100" u="none" cap="none" strike="noStrike"/>
                        <a:t>Epigenetic Drift</a:t>
                      </a:r>
                      <a:endParaRPr b="1"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Our Proposal</a:t>
                      </a:r>
                      <a:endParaRPr sz="1400" u="none" cap="none" strike="noStrike"/>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t>Mitochondrial Redox</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[9,10,11]</a:t>
                      </a:r>
                      <a:endParaRPr sz="1400" u="none" cap="none" strike="noStrike"/>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t>Sensescence Escape</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[2,3,4,6]</a:t>
                      </a:r>
                      <a:endParaRPr sz="1400" u="none" cap="none" strike="noStrike"/>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t>Proteostasis / UPR</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[12,13,14]</a:t>
                      </a:r>
                      <a:endParaRPr sz="1400" u="none" cap="none" strike="noStrike"/>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161" name="Google Shape;161;p5"/>
          <p:cNvSpPr/>
          <p:nvPr/>
        </p:nvSpPr>
        <p:spPr>
          <a:xfrm rot="5400000">
            <a:off x="919000" y="2661575"/>
            <a:ext cx="260700" cy="602400"/>
          </a:xfrm>
          <a:prstGeom prst="bentUpArrow">
            <a:avLst>
              <a:gd fmla="val 25000" name="adj1"/>
              <a:gd fmla="val 25000" name="adj2"/>
              <a:gd fmla="val 25000" name="adj3"/>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5"/>
          <p:cNvSpPr/>
          <p:nvPr/>
        </p:nvSpPr>
        <p:spPr>
          <a:xfrm rot="5400000">
            <a:off x="919000" y="3042575"/>
            <a:ext cx="260700" cy="602400"/>
          </a:xfrm>
          <a:prstGeom prst="bentUpArrow">
            <a:avLst>
              <a:gd fmla="val 25000" name="adj1"/>
              <a:gd fmla="val 25000" name="adj2"/>
              <a:gd fmla="val 25000" name="adj3"/>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5"/>
          <p:cNvSpPr/>
          <p:nvPr/>
        </p:nvSpPr>
        <p:spPr>
          <a:xfrm rot="5400000">
            <a:off x="490150" y="3743050"/>
            <a:ext cx="1118400" cy="602400"/>
          </a:xfrm>
          <a:prstGeom prst="bentUpArrow">
            <a:avLst>
              <a:gd fmla="val 12712" name="adj1"/>
              <a:gd fmla="val 12241" name="adj2"/>
              <a:gd fmla="val 20634" name="adj3"/>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5"/>
          <p:cNvSpPr/>
          <p:nvPr/>
        </p:nvSpPr>
        <p:spPr>
          <a:xfrm rot="5400000">
            <a:off x="2418300" y="3423575"/>
            <a:ext cx="260700" cy="602400"/>
          </a:xfrm>
          <a:prstGeom prst="bentUpArrow">
            <a:avLst>
              <a:gd fmla="val 25000" name="adj1"/>
              <a:gd fmla="val 25000" name="adj2"/>
              <a:gd fmla="val 25000" name="adj3"/>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5"/>
          <p:cNvSpPr/>
          <p:nvPr/>
        </p:nvSpPr>
        <p:spPr>
          <a:xfrm rot="5400000">
            <a:off x="3936025" y="3804575"/>
            <a:ext cx="260700" cy="602400"/>
          </a:xfrm>
          <a:prstGeom prst="bentUpArrow">
            <a:avLst>
              <a:gd fmla="val 25000" name="adj1"/>
              <a:gd fmla="val 25000" name="adj2"/>
              <a:gd fmla="val 25000" name="adj3"/>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Proposal: RCT on Oral EGT Supplementation </a:t>
            </a:r>
            <a:endParaRPr/>
          </a:p>
        </p:txBody>
      </p:sp>
      <p:sp>
        <p:nvSpPr>
          <p:cNvPr id="171" name="Google Shape;171;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800"/>
              <a:buNone/>
            </a:pPr>
            <a:r>
              <a:rPr lang="en-GB"/>
              <a:t>Hypothesis: </a:t>
            </a:r>
            <a:endParaRPr/>
          </a:p>
          <a:p>
            <a:pPr indent="0" lvl="0" marL="457200" rtl="0" algn="l">
              <a:lnSpc>
                <a:spcPct val="115000"/>
              </a:lnSpc>
              <a:spcBef>
                <a:spcPts val="1200"/>
              </a:spcBef>
              <a:spcAft>
                <a:spcPts val="1200"/>
              </a:spcAft>
              <a:buSzPts val="1800"/>
              <a:buNone/>
            </a:pPr>
            <a:r>
              <a:rPr i="1" lang="en-GB" sz="1600"/>
              <a:t>30 mg/day ergothioneine for 12 months slows epigenetic aging measured using DNA clocks, with parallel improvements in functional aging endpoints, providing the first causal test of EGT's geroprotective potential in humans.</a:t>
            </a:r>
            <a:endParaRPr i="1" sz="1600"/>
          </a:p>
        </p:txBody>
      </p:sp>
      <p:graphicFrame>
        <p:nvGraphicFramePr>
          <p:cNvPr id="172" name="Google Shape;172;p6"/>
          <p:cNvGraphicFramePr/>
          <p:nvPr/>
        </p:nvGraphicFramePr>
        <p:xfrm>
          <a:off x="734050" y="2745017"/>
          <a:ext cx="3000000" cy="3000000"/>
        </p:xfrm>
        <a:graphic>
          <a:graphicData uri="http://schemas.openxmlformats.org/drawingml/2006/table">
            <a:tbl>
              <a:tblPr>
                <a:noFill/>
                <a:tableStyleId>{655F842E-096B-4A1F-9849-846BB7E25257}</a:tableStyleId>
              </a:tblPr>
              <a:tblGrid>
                <a:gridCol w="1240250"/>
                <a:gridCol w="64356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Primary</a:t>
                      </a:r>
                      <a:endParaRPr b="1" sz="1400" u="none" cap="none" strike="noStrike"/>
                    </a:p>
                  </a:txBody>
                  <a:tcPr marT="91425" marB="91425" marR="91425" marL="91425">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Do DNA clocks demonstrate reduced biological age over 12-18 months?</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Mechanistic</a:t>
                      </a:r>
                      <a:endParaRPr b="1" sz="1400" u="none" cap="none" strike="noStrike"/>
                    </a:p>
                  </a:txBody>
                  <a:tcPr marT="91425" marB="91425" marR="91425" marL="91425">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Do blood biomarkers evidence bioavailability and EGT mediated changes?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Functional</a:t>
                      </a:r>
                      <a:endParaRPr b="1" sz="1400" u="none" cap="none" strike="noStrike"/>
                    </a:p>
                  </a:txBody>
                  <a:tcPr marT="91425" marB="91425" marR="91425" marL="91425">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Do functional assessments detect changes in aging trajectory?</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t>Exploratory</a:t>
                      </a:r>
                      <a:endParaRPr b="1" sz="1400" u="none" cap="none" strike="noStrike"/>
                    </a:p>
                  </a:txBody>
                  <a:tcPr marT="91425" marB="91425" marR="91425" marL="91425">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Are there correlations between DNA clock and functional outcomes?</a:t>
                      </a:r>
                      <a:endParaRPr sz="1400" u="none" cap="none" strike="noStrike"/>
                    </a:p>
                  </a:txBody>
                  <a:tcPr marT="91425" marB="91425" marR="91425" marL="91425"/>
                </a:tc>
              </a:tr>
            </a:tbl>
          </a:graphicData>
        </a:graphic>
      </p:graphicFrame>
      <p:sp>
        <p:nvSpPr>
          <p:cNvPr id="173" name="Google Shape;173;p6"/>
          <p:cNvSpPr txBox="1"/>
          <p:nvPr/>
        </p:nvSpPr>
        <p:spPr>
          <a:xfrm>
            <a:off x="690700" y="4379111"/>
            <a:ext cx="7719300" cy="374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GB">
                <a:solidFill>
                  <a:schemeClr val="dk2"/>
                </a:solidFill>
              </a:rPr>
              <a:t>Specific aims of a 12-18 month study</a:t>
            </a:r>
            <a:endParaRPr b="0" i="0" u="none" cap="none" strike="noStrik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